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7"/>
  </p:notesMasterIdLst>
  <p:sldIdLst>
    <p:sldId id="304" r:id="rId2"/>
    <p:sldId id="305" r:id="rId3"/>
    <p:sldId id="337" r:id="rId4"/>
    <p:sldId id="307" r:id="rId5"/>
    <p:sldId id="308" r:id="rId6"/>
    <p:sldId id="310" r:id="rId7"/>
    <p:sldId id="311" r:id="rId8"/>
    <p:sldId id="313" r:id="rId9"/>
    <p:sldId id="314" r:id="rId10"/>
    <p:sldId id="316" r:id="rId11"/>
    <p:sldId id="317" r:id="rId12"/>
    <p:sldId id="318" r:id="rId13"/>
    <p:sldId id="319" r:id="rId14"/>
    <p:sldId id="320" r:id="rId15"/>
    <p:sldId id="323" r:id="rId16"/>
    <p:sldId id="324" r:id="rId17"/>
    <p:sldId id="326" r:id="rId18"/>
    <p:sldId id="338" r:id="rId19"/>
    <p:sldId id="327" r:id="rId20"/>
    <p:sldId id="329" r:id="rId21"/>
    <p:sldId id="330" r:id="rId22"/>
    <p:sldId id="331" r:id="rId23"/>
    <p:sldId id="339" r:id="rId24"/>
    <p:sldId id="333" r:id="rId25"/>
    <p:sldId id="335" r:id="rId26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8"/>
    </p:embeddedFont>
    <p:embeddedFont>
      <p:font typeface="DM Sans" pitchFamily="2" charset="0"/>
      <p:regular r:id="rId29"/>
      <p:bold r:id="rId30"/>
      <p:italic r:id="rId31"/>
      <p:boldItalic r:id="rId32"/>
    </p:embeddedFont>
    <p:embeddedFont>
      <p:font typeface="Mulish" panose="020B0604020202020204" charset="0"/>
      <p:regular r:id="rId33"/>
      <p:bold r:id="rId34"/>
      <p:italic r:id="rId35"/>
      <p:boldItalic r:id="rId36"/>
    </p:embeddedFont>
    <p:embeddedFont>
      <p:font typeface="Nunito Light" pitchFamily="2" charset="0"/>
      <p:regular r:id="rId37"/>
      <p:italic r:id="rId38"/>
    </p:embeddedFont>
    <p:embeddedFont>
      <p:font typeface="PT Sans" panose="020B0503020203020204" pitchFamily="34" charset="0"/>
      <p:regular r:id="rId39"/>
      <p:bold r:id="rId40"/>
      <p:italic r:id="rId41"/>
      <p:boldItalic r:id="rId42"/>
    </p:embeddedFont>
    <p:embeddedFont>
      <p:font typeface="Quicksand" panose="020B0604020202020204" charset="0"/>
      <p:regular r:id="rId43"/>
      <p:bold r:id="rId44"/>
    </p:embeddedFont>
    <p:embeddedFont>
      <p:font typeface="Tahoma" panose="020B0604030504040204" pitchFamily="3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34A981-FEA2-465D-8A75-E5CC9D253B4C}">
  <a:tblStyle styleId="{CA34A981-FEA2-465D-8A75-E5CC9D253B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170" autoAdjust="0"/>
  </p:normalViewPr>
  <p:slideViewPr>
    <p:cSldViewPr snapToGrid="0">
      <p:cViewPr varScale="1">
        <p:scale>
          <a:sx n="95" d="100"/>
          <a:sy n="95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8478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6737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7866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9" name="Google Shape;39;p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747387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26675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266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747375" y="1313225"/>
            <a:ext cx="3698100" cy="422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1" name="Google Shape;61;p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3" name="Google Shape;63;p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969825" y="2079259"/>
            <a:ext cx="7204500" cy="87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2" name="Google Shape;72;p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4" name="Google Shape;74;p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6" name="Google Shape;76;p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713225" y="4162975"/>
            <a:ext cx="7917300" cy="54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" name="Google Shape;86;p1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87" name="Google Shape;87;p1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89" name="Google Shape;89;p1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0" name="Google Shape;90;p1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" name="Google Shape;91;p1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2" name="Google Shape;92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29725"/>
            <a:ext cx="6576000" cy="14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1284000" y="2985500"/>
            <a:ext cx="6576000" cy="4971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1" name="Google Shape;201;p20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4" name="Google Shape;204;p2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0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1"/>
          </p:nvPr>
        </p:nvSpPr>
        <p:spPr>
          <a:xfrm>
            <a:off x="154577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2"/>
          </p:nvPr>
        </p:nvSpPr>
        <p:spPr>
          <a:xfrm>
            <a:off x="5041325" y="1975263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3"/>
          </p:nvPr>
        </p:nvSpPr>
        <p:spPr>
          <a:xfrm>
            <a:off x="154577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4"/>
          </p:nvPr>
        </p:nvSpPr>
        <p:spPr>
          <a:xfrm>
            <a:off x="5041325" y="3691500"/>
            <a:ext cx="2556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5"/>
          </p:nvPr>
        </p:nvSpPr>
        <p:spPr>
          <a:xfrm>
            <a:off x="154577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5041325" y="1670463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7"/>
          </p:nvPr>
        </p:nvSpPr>
        <p:spPr>
          <a:xfrm>
            <a:off x="154577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5041325" y="3386700"/>
            <a:ext cx="2556900" cy="354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9" name="Google Shape;219;p21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3" name="Google Shape;2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1"/>
          </p:nvPr>
        </p:nvSpPr>
        <p:spPr>
          <a:xfrm>
            <a:off x="903950" y="2149201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2"/>
          </p:nvPr>
        </p:nvSpPr>
        <p:spPr>
          <a:xfrm>
            <a:off x="3478550" y="2149201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3"/>
          </p:nvPr>
        </p:nvSpPr>
        <p:spPr>
          <a:xfrm>
            <a:off x="903950" y="3579425"/>
            <a:ext cx="2191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subTitle" idx="4"/>
          </p:nvPr>
        </p:nvSpPr>
        <p:spPr>
          <a:xfrm>
            <a:off x="3478550" y="3579425"/>
            <a:ext cx="21825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5"/>
          </p:nvPr>
        </p:nvSpPr>
        <p:spPr>
          <a:xfrm>
            <a:off x="6048850" y="2149201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ubTitle" idx="6"/>
          </p:nvPr>
        </p:nvSpPr>
        <p:spPr>
          <a:xfrm>
            <a:off x="6048850" y="3579425"/>
            <a:ext cx="2199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1"/>
          <p:cNvSpPr txBox="1">
            <a:spLocks noGrp="1"/>
          </p:cNvSpPr>
          <p:nvPr>
            <p:ph type="subTitle" idx="7"/>
          </p:nvPr>
        </p:nvSpPr>
        <p:spPr>
          <a:xfrm>
            <a:off x="908250" y="16566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1" name="Google Shape;231;p21"/>
          <p:cNvSpPr txBox="1">
            <a:spLocks noGrp="1"/>
          </p:cNvSpPr>
          <p:nvPr>
            <p:ph type="subTitle" idx="8"/>
          </p:nvPr>
        </p:nvSpPr>
        <p:spPr>
          <a:xfrm>
            <a:off x="3482836" y="16566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subTitle" idx="9"/>
          </p:nvPr>
        </p:nvSpPr>
        <p:spPr>
          <a:xfrm>
            <a:off x="6053173" y="16566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3"/>
          </p:nvPr>
        </p:nvSpPr>
        <p:spPr>
          <a:xfrm>
            <a:off x="908250" y="3086800"/>
            <a:ext cx="21825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4"/>
          </p:nvPr>
        </p:nvSpPr>
        <p:spPr>
          <a:xfrm>
            <a:off x="3482836" y="3086800"/>
            <a:ext cx="21738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ubTitle" idx="15"/>
          </p:nvPr>
        </p:nvSpPr>
        <p:spPr>
          <a:xfrm>
            <a:off x="6053173" y="3086800"/>
            <a:ext cx="2191200" cy="4425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22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9" name="Google Shape;239;p22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22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1" name="Google Shape;241;p22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42" name="Google Shape;242;p2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4" name="Google Shape;244;p22"/>
          <p:cNvSpPr txBox="1">
            <a:spLocks noGrp="1"/>
          </p:cNvSpPr>
          <p:nvPr>
            <p:ph type="title" hasCustomPrompt="1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5" name="Google Shape;245;p22"/>
          <p:cNvSpPr txBox="1">
            <a:spLocks noGrp="1"/>
          </p:cNvSpPr>
          <p:nvPr>
            <p:ph type="subTitle" idx="1"/>
          </p:nvPr>
        </p:nvSpPr>
        <p:spPr>
          <a:xfrm>
            <a:off x="2223600" y="1364275"/>
            <a:ext cx="4696800" cy="428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6" name="Google Shape;246;p22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22"/>
          <p:cNvSpPr txBox="1">
            <a:spLocks noGrp="1"/>
          </p:cNvSpPr>
          <p:nvPr>
            <p:ph type="subTitle" idx="3"/>
          </p:nvPr>
        </p:nvSpPr>
        <p:spPr>
          <a:xfrm>
            <a:off x="2223600" y="271652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9" name="Google Shape;249;p22"/>
          <p:cNvSpPr txBox="1">
            <a:spLocks noGrp="1"/>
          </p:cNvSpPr>
          <p:nvPr>
            <p:ph type="subTitle" idx="5"/>
          </p:nvPr>
        </p:nvSpPr>
        <p:spPr>
          <a:xfrm>
            <a:off x="2223600" y="4068797"/>
            <a:ext cx="4696800" cy="446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3"/>
          <p:cNvSpPr txBox="1">
            <a:spLocks noGrp="1"/>
          </p:cNvSpPr>
          <p:nvPr>
            <p:ph type="subTitle" idx="1"/>
          </p:nvPr>
        </p:nvSpPr>
        <p:spPr>
          <a:xfrm>
            <a:off x="2347900" y="1717825"/>
            <a:ext cx="4448100" cy="12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</a:t>
            </a:r>
            <a:r>
              <a:rPr lang="en" sz="12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</a:t>
            </a:r>
            <a:endParaRPr sz="1200" b="1" u="sng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56" name="Google Shape;256;p2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7" name="Google Shape;257;p2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3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5147" y="1799360"/>
            <a:ext cx="6433706" cy="154014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800" b="1">
                <a:solidFill>
                  <a:srgbClr val="5C5C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Имплементација </a:t>
            </a:r>
            <a:r>
              <a:rPr lang="sr-Cyrl-RS" sz="2800" b="1" i="1">
                <a:solidFill>
                  <a:srgbClr val="5C5C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long-term</a:t>
            </a:r>
            <a:r>
              <a:rPr lang="sr-Cyrl-RS" sz="2800" b="1">
                <a:solidFill>
                  <a:srgbClr val="5C5C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меморије у агентским системима коришћењем </a:t>
            </a:r>
            <a:r>
              <a:rPr lang="sr-Cyrl-RS" sz="2800" b="1" i="1">
                <a:solidFill>
                  <a:srgbClr val="5C5C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LangMem SDK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D8071-66C3-A8AF-149E-51676F173973}"/>
              </a:ext>
            </a:extLst>
          </p:cNvPr>
          <p:cNvSpPr txBox="1"/>
          <p:nvPr/>
        </p:nvSpPr>
        <p:spPr>
          <a:xfrm>
            <a:off x="972327" y="3956336"/>
            <a:ext cx="2369741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Студент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250">
                <a:solidFill>
                  <a:schemeClr val="tx2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Јована Малиновић, бр. инд. 2133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8A1B9-8289-D3E8-B2E5-DB4A5F20EB1E}"/>
              </a:ext>
            </a:extLst>
          </p:cNvPr>
          <p:cNvSpPr txBox="1"/>
          <p:nvPr/>
        </p:nvSpPr>
        <p:spPr>
          <a:xfrm>
            <a:off x="6027343" y="3930687"/>
            <a:ext cx="2144330" cy="46576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Ментор</a:t>
            </a:r>
            <a:r>
              <a:rPr lang="en-US" sz="12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:</a:t>
            </a:r>
            <a:endParaRPr lang="sr-Cyrl-RS" sz="125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00"/>
              </a:spcBef>
              <a:spcAft>
                <a:spcPts val="0"/>
              </a:spcAft>
              <a:buNone/>
            </a:pPr>
            <a:r>
              <a:rPr lang="sr-Cyrl-RS" sz="1250">
                <a:solidFill>
                  <a:schemeClr val="tx2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Проф. др Милош Богдановић</a:t>
            </a:r>
          </a:p>
        </p:txBody>
      </p:sp>
      <p:pic>
        <p:nvPicPr>
          <p:cNvPr id="10" name="Picture 9" descr="A red circle with white text and two people in it&#10;&#10;AI-generated content may be incorrect.">
            <a:extLst>
              <a:ext uri="{FF2B5EF4-FFF2-40B4-BE49-F238E27FC236}">
                <a16:creationId xmlns:a16="http://schemas.microsoft.com/office/drawing/2014/main" id="{2ABC68D2-3C54-E12A-433F-2CA08D855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50" y="575461"/>
            <a:ext cx="658368" cy="658368"/>
          </a:xfrm>
          <a:prstGeom prst="rect">
            <a:avLst/>
          </a:prstGeom>
        </p:spPr>
      </p:pic>
      <p:pic>
        <p:nvPicPr>
          <p:cNvPr id="11" name="Picture 10" descr="A blue circle with a letter in it&#10;&#10;AI-generated content may be incorrect.">
            <a:extLst>
              <a:ext uri="{FF2B5EF4-FFF2-40B4-BE49-F238E27FC236}">
                <a16:creationId xmlns:a16="http://schemas.microsoft.com/office/drawing/2014/main" id="{19BC85D5-FD9A-6D7E-0084-1A153C3CE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889" y="577902"/>
            <a:ext cx="655927" cy="6559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1F3250D8-B682-EE81-8DEA-960B09B7034E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772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>
                <a:solidFill>
                  <a:srgbClr val="5C5C5F"/>
                </a:solidFill>
                <a:latin typeface="Arial"/>
                <a:ea typeface="Arial"/>
                <a:cs typeface="Arial"/>
              </a:rPr>
              <a:t>Садржај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7D6F4C22-7A6A-D706-C50A-FFB7B3D0F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" y="2082250"/>
            <a:ext cx="2246925" cy="530898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Мотивација и циљ рада</a:t>
            </a:r>
          </a:p>
        </p:txBody>
      </p:sp>
      <p:sp>
        <p:nvSpPr>
          <p:cNvPr id="61" name="Subtitle 5">
            <a:extLst>
              <a:ext uri="{FF2B5EF4-FFF2-40B4-BE49-F238E27FC236}">
                <a16:creationId xmlns:a16="http://schemas.microsoft.com/office/drawing/2014/main" id="{BC9A12C4-FA6B-D961-309C-25F5CAEA4AAE}"/>
              </a:ext>
            </a:extLst>
          </p:cNvPr>
          <p:cNvSpPr txBox="1">
            <a:spLocks/>
          </p:cNvSpPr>
          <p:nvPr/>
        </p:nvSpPr>
        <p:spPr>
          <a:xfrm>
            <a:off x="3423140" y="2082150"/>
            <a:ext cx="2246925" cy="53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Агенти, контекстни прозор и дугорочна меморија</a:t>
            </a:r>
          </a:p>
        </p:txBody>
      </p:sp>
      <p:sp>
        <p:nvSpPr>
          <p:cNvPr id="62" name="Title 6">
            <a:extLst>
              <a:ext uri="{FF2B5EF4-FFF2-40B4-BE49-F238E27FC236}">
                <a16:creationId xmlns:a16="http://schemas.microsoft.com/office/drawing/2014/main" id="{FC2B38A9-62E6-5371-015C-BE0353FEDA83}"/>
              </a:ext>
            </a:extLst>
          </p:cNvPr>
          <p:cNvSpPr txBox="1">
            <a:spLocks/>
          </p:cNvSpPr>
          <p:nvPr/>
        </p:nvSpPr>
        <p:spPr>
          <a:xfrm>
            <a:off x="777240" y="1208575"/>
            <a:ext cx="607645" cy="43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3" name="Title 7">
            <a:extLst>
              <a:ext uri="{FF2B5EF4-FFF2-40B4-BE49-F238E27FC236}">
                <a16:creationId xmlns:a16="http://schemas.microsoft.com/office/drawing/2014/main" id="{D6D468B6-5793-EA50-6127-E90E7AC6A6BB}"/>
              </a:ext>
            </a:extLst>
          </p:cNvPr>
          <p:cNvSpPr txBox="1">
            <a:spLocks/>
          </p:cNvSpPr>
          <p:nvPr/>
        </p:nvSpPr>
        <p:spPr>
          <a:xfrm>
            <a:off x="3423140" y="3061350"/>
            <a:ext cx="607645" cy="4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4" name="Title 8">
            <a:extLst>
              <a:ext uri="{FF2B5EF4-FFF2-40B4-BE49-F238E27FC236}">
                <a16:creationId xmlns:a16="http://schemas.microsoft.com/office/drawing/2014/main" id="{4494E923-43F1-37D9-0467-61C958152FE9}"/>
              </a:ext>
            </a:extLst>
          </p:cNvPr>
          <p:cNvSpPr txBox="1">
            <a:spLocks/>
          </p:cNvSpPr>
          <p:nvPr/>
        </p:nvSpPr>
        <p:spPr>
          <a:xfrm>
            <a:off x="777240" y="3061350"/>
            <a:ext cx="607645" cy="4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5" name="Title 9">
            <a:extLst>
              <a:ext uri="{FF2B5EF4-FFF2-40B4-BE49-F238E27FC236}">
                <a16:creationId xmlns:a16="http://schemas.microsoft.com/office/drawing/2014/main" id="{F442B156-B7BD-48C5-441D-FAEC1FB2B3BB}"/>
              </a:ext>
            </a:extLst>
          </p:cNvPr>
          <p:cNvSpPr txBox="1">
            <a:spLocks/>
          </p:cNvSpPr>
          <p:nvPr/>
        </p:nvSpPr>
        <p:spPr>
          <a:xfrm>
            <a:off x="3423140" y="1209342"/>
            <a:ext cx="607645" cy="43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6" name="Subtitle 11">
            <a:extLst>
              <a:ext uri="{FF2B5EF4-FFF2-40B4-BE49-F238E27FC236}">
                <a16:creationId xmlns:a16="http://schemas.microsoft.com/office/drawing/2014/main" id="{AA62CBBC-89B1-904E-633E-2DADBC13ACE0}"/>
              </a:ext>
            </a:extLst>
          </p:cNvPr>
          <p:cNvSpPr txBox="1">
            <a:spLocks/>
          </p:cNvSpPr>
          <p:nvPr/>
        </p:nvSpPr>
        <p:spPr>
          <a:xfrm>
            <a:off x="6061653" y="2082150"/>
            <a:ext cx="2246925" cy="53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LangGraph, LangMem SDK и архитектура система</a:t>
            </a:r>
          </a:p>
        </p:txBody>
      </p:sp>
      <p:sp>
        <p:nvSpPr>
          <p:cNvPr id="67" name="Title 12">
            <a:extLst>
              <a:ext uri="{FF2B5EF4-FFF2-40B4-BE49-F238E27FC236}">
                <a16:creationId xmlns:a16="http://schemas.microsoft.com/office/drawing/2014/main" id="{08CFA941-AD04-4092-EC26-33C7817E7A9B}"/>
              </a:ext>
            </a:extLst>
          </p:cNvPr>
          <p:cNvSpPr txBox="1">
            <a:spLocks/>
          </p:cNvSpPr>
          <p:nvPr/>
        </p:nvSpPr>
        <p:spPr>
          <a:xfrm>
            <a:off x="6061653" y="3061350"/>
            <a:ext cx="607645" cy="43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8" name="Title 13">
            <a:extLst>
              <a:ext uri="{FF2B5EF4-FFF2-40B4-BE49-F238E27FC236}">
                <a16:creationId xmlns:a16="http://schemas.microsoft.com/office/drawing/2014/main" id="{88AA4B79-B94F-C0E2-D8E3-B69D9B05BC10}"/>
              </a:ext>
            </a:extLst>
          </p:cNvPr>
          <p:cNvSpPr txBox="1">
            <a:spLocks/>
          </p:cNvSpPr>
          <p:nvPr/>
        </p:nvSpPr>
        <p:spPr>
          <a:xfrm>
            <a:off x="6061653" y="1209342"/>
            <a:ext cx="607645" cy="43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2800" b="1" i="0" u="none" strike="noStrike" cap="none" spc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000">
                <a:solidFill>
                  <a:srgbClr val="927C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9" name="Subtitle 14">
            <a:extLst>
              <a:ext uri="{FF2B5EF4-FFF2-40B4-BE49-F238E27FC236}">
                <a16:creationId xmlns:a16="http://schemas.microsoft.com/office/drawing/2014/main" id="{3AB80A89-252B-0AEC-FDA4-8DAE2EF35CF3}"/>
              </a:ext>
            </a:extLst>
          </p:cNvPr>
          <p:cNvSpPr txBox="1">
            <a:spLocks/>
          </p:cNvSpPr>
          <p:nvPr/>
        </p:nvSpPr>
        <p:spPr>
          <a:xfrm>
            <a:off x="878840" y="1660974"/>
            <a:ext cx="2244147" cy="432946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УВОД</a:t>
            </a:r>
          </a:p>
        </p:txBody>
      </p:sp>
      <p:sp>
        <p:nvSpPr>
          <p:cNvPr id="70" name="Subtitle 15">
            <a:extLst>
              <a:ext uri="{FF2B5EF4-FFF2-40B4-BE49-F238E27FC236}">
                <a16:creationId xmlns:a16="http://schemas.microsoft.com/office/drawing/2014/main" id="{24DDF408-A9C4-B9E6-CE0C-F83530BA62F4}"/>
              </a:ext>
            </a:extLst>
          </p:cNvPr>
          <p:cNvSpPr txBox="1">
            <a:spLocks/>
          </p:cNvSpPr>
          <p:nvPr/>
        </p:nvSpPr>
        <p:spPr>
          <a:xfrm>
            <a:off x="878840" y="3513881"/>
            <a:ext cx="2244147" cy="42258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АПЛИКАЦИЈА</a:t>
            </a:r>
          </a:p>
        </p:txBody>
      </p:sp>
      <p:sp>
        <p:nvSpPr>
          <p:cNvPr id="71" name="Subtitle 16">
            <a:extLst>
              <a:ext uri="{FF2B5EF4-FFF2-40B4-BE49-F238E27FC236}">
                <a16:creationId xmlns:a16="http://schemas.microsoft.com/office/drawing/2014/main" id="{D240C407-683A-ACED-E719-C4049E9FF309}"/>
              </a:ext>
            </a:extLst>
          </p:cNvPr>
          <p:cNvSpPr txBox="1">
            <a:spLocks/>
          </p:cNvSpPr>
          <p:nvPr/>
        </p:nvSpPr>
        <p:spPr>
          <a:xfrm>
            <a:off x="3524740" y="3513870"/>
            <a:ext cx="2244147" cy="42258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ЕВАЛУАЦИЈА</a:t>
            </a:r>
          </a:p>
        </p:txBody>
      </p:sp>
      <p:sp>
        <p:nvSpPr>
          <p:cNvPr id="72" name="Subtitle 17">
            <a:extLst>
              <a:ext uri="{FF2B5EF4-FFF2-40B4-BE49-F238E27FC236}">
                <a16:creationId xmlns:a16="http://schemas.microsoft.com/office/drawing/2014/main" id="{8C3CF96E-1252-DA68-0D73-4E2D1A718DC6}"/>
              </a:ext>
            </a:extLst>
          </p:cNvPr>
          <p:cNvSpPr txBox="1">
            <a:spLocks/>
          </p:cNvSpPr>
          <p:nvPr/>
        </p:nvSpPr>
        <p:spPr>
          <a:xfrm>
            <a:off x="3524740" y="1660974"/>
            <a:ext cx="2244147" cy="432946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ТЕОРИЈСКЕ ОСНОВЕ</a:t>
            </a:r>
          </a:p>
        </p:txBody>
      </p:sp>
      <p:sp>
        <p:nvSpPr>
          <p:cNvPr id="73" name="Subtitle 18">
            <a:extLst>
              <a:ext uri="{FF2B5EF4-FFF2-40B4-BE49-F238E27FC236}">
                <a16:creationId xmlns:a16="http://schemas.microsoft.com/office/drawing/2014/main" id="{1BF260D4-681A-A38A-627A-CA2F1C2EB44B}"/>
              </a:ext>
            </a:extLst>
          </p:cNvPr>
          <p:cNvSpPr txBox="1">
            <a:spLocks/>
          </p:cNvSpPr>
          <p:nvPr/>
        </p:nvSpPr>
        <p:spPr>
          <a:xfrm>
            <a:off x="6163253" y="3513870"/>
            <a:ext cx="2244147" cy="422588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ЗАКЉУЧАК</a:t>
            </a:r>
          </a:p>
        </p:txBody>
      </p:sp>
      <p:sp>
        <p:nvSpPr>
          <p:cNvPr id="74" name="Subtitle 19">
            <a:extLst>
              <a:ext uri="{FF2B5EF4-FFF2-40B4-BE49-F238E27FC236}">
                <a16:creationId xmlns:a16="http://schemas.microsoft.com/office/drawing/2014/main" id="{8A5E174A-8FF9-9FF1-B0D2-E6F856F30740}"/>
              </a:ext>
            </a:extLst>
          </p:cNvPr>
          <p:cNvSpPr txBox="1">
            <a:spLocks/>
          </p:cNvSpPr>
          <p:nvPr/>
        </p:nvSpPr>
        <p:spPr>
          <a:xfrm>
            <a:off x="6163253" y="1660974"/>
            <a:ext cx="2244147" cy="432946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sr-Cyrl-RS" sz="1250">
                <a:solidFill>
                  <a:srgbClr val="5C5C5F"/>
                </a:solidFill>
                <a:latin typeface="Arial"/>
                <a:ea typeface="Arial"/>
                <a:cs typeface="Arial"/>
              </a:rPr>
              <a:t>ИМПЛЕМЕНТАЦИЈА</a:t>
            </a:r>
          </a:p>
        </p:txBody>
      </p:sp>
      <p:sp>
        <p:nvSpPr>
          <p:cNvPr id="75" name="Subtitle 3">
            <a:extLst>
              <a:ext uri="{FF2B5EF4-FFF2-40B4-BE49-F238E27FC236}">
                <a16:creationId xmlns:a16="http://schemas.microsoft.com/office/drawing/2014/main" id="{B5FEC9E1-F342-521C-069F-7CAEE97C16D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77240" y="3942501"/>
            <a:ext cx="2426100" cy="538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Претрага градова и меморија у пракси</a:t>
            </a:r>
          </a:p>
        </p:txBody>
      </p:sp>
      <p:sp>
        <p:nvSpPr>
          <p:cNvPr id="76" name="Subtitle 4">
            <a:extLst>
              <a:ext uri="{FF2B5EF4-FFF2-40B4-BE49-F238E27FC236}">
                <a16:creationId xmlns:a16="http://schemas.microsoft.com/office/drawing/2014/main" id="{A5215D96-3D1E-110B-4B11-65042D9CB812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423140" y="3942498"/>
            <a:ext cx="2426100" cy="5382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Методологија, почетни и финални резултати</a:t>
            </a:r>
          </a:p>
        </p:txBody>
      </p:sp>
      <p:sp>
        <p:nvSpPr>
          <p:cNvPr id="77" name="Subtitle 10">
            <a:extLst>
              <a:ext uri="{FF2B5EF4-FFF2-40B4-BE49-F238E27FC236}">
                <a16:creationId xmlns:a16="http://schemas.microsoft.com/office/drawing/2014/main" id="{3507D960-825D-C64E-F1E0-0628E2EDCF7A}"/>
              </a:ext>
            </a:extLst>
          </p:cNvPr>
          <p:cNvSpPr txBox="1">
            <a:spLocks/>
          </p:cNvSpPr>
          <p:nvPr/>
        </p:nvSpPr>
        <p:spPr>
          <a:xfrm>
            <a:off x="6061653" y="3942498"/>
            <a:ext cx="24261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 spc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sr-Cyrl-RS" sz="100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Кључни налази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635875"/>
            <a:ext cx="7772400" cy="5727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600" b="1">
                <a:solidFill>
                  <a:srgbClr val="5C5C5F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Увод и мотивација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91389"/>
            <a:ext cx="7772400" cy="224061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Агент заснован на великом језичком моделу добија меморију која чува и поново користи претходне интеракције, уместо да сваки разговор почиње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од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нуле.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Контекстни прозор модела је ограничен, а његов садржај нестаје када се сесија заврши - агент нема начина да сачува ни искористи знање из претходних разговора.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Корисник мора изнова да наводи исте преференце и детаље у свакој новој сесији, што успорава и отежава интеракцију.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Циљ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имплементирати и евалуирати дугорочну меморију агента помоћу LangMem SDK-а и обезбедити да сачувано знање буде доступно кроз нове сесије.</a:t>
            </a:r>
            <a:endParaRPr lang="sr-Cyrl-R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545135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635875"/>
            <a:ext cx="7772400" cy="57270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sr-Cyrl-RS" sz="2600">
                <a:latin typeface="Arial" panose="020B0604020202020204" pitchFamily="34" charset="0"/>
                <a:cs typeface="Arial" panose="020B0604020202020204" pitchFamily="34" charset="0"/>
              </a:rPr>
              <a:t>гентски</a:t>
            </a:r>
            <a:r>
              <a:rPr lang="ru-RU" sz="2600">
                <a:latin typeface="Arial" panose="020B0604020202020204" pitchFamily="34" charset="0"/>
                <a:cs typeface="Arial" panose="020B0604020202020204" pitchFamily="34" charset="0"/>
              </a:rPr>
              <a:t> системи базирани на ЛЛМ-овима</a:t>
            </a:r>
            <a:endParaRPr lang="sr-Cyrl-RS" sz="2600" b="1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1870789"/>
            <a:ext cx="7772400" cy="144039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Проблем са великим језичким моделом када је потребан свеобухватнији одговор на постављени захтев корисника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Велики језички модел је централно језгро система: резонује о задатку, прави план и по потреби позива спољашње алатке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Захтев корисника је задатак који се разлаже на низ повезаних корака, а не једнократан упит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_2_2_agent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008" y="1124313"/>
            <a:ext cx="3721982" cy="28948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1205EC0-6C68-234F-4AF6-1AE5F8131539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>
                <a:latin typeface="Arial" panose="020B0604020202020204" pitchFamily="34" charset="0"/>
                <a:cs typeface="Arial" panose="020B0604020202020204" pitchFamily="34" charset="0"/>
              </a:rPr>
              <a:t>Компоненте агената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F575CA-8C54-CA4D-A798-4C83D3E70977}"/>
              </a:ext>
            </a:extLst>
          </p:cNvPr>
          <p:cNvSpPr/>
          <p:nvPr/>
        </p:nvSpPr>
        <p:spPr>
          <a:xfrm>
            <a:off x="777240" y="4114732"/>
            <a:ext cx="7553960" cy="548640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 wrap="square" lIns="128016" rIns="128016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400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Меморија је централна тема овог рада.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/>
          </p:cNvSpPr>
          <p:nvPr/>
        </p:nvSpPr>
        <p:spPr>
          <a:xfrm>
            <a:off x="790956" y="1390078"/>
            <a:ext cx="7562088" cy="501676"/>
          </a:xfrm>
          <a:custGeom>
            <a:avLst/>
            <a:gdLst>
              <a:gd name="connsiteX0" fmla="*/ 0 w 7772400"/>
              <a:gd name="connsiteY0" fmla="*/ 0 h 2926080"/>
              <a:gd name="connsiteX1" fmla="*/ 7772400 w 7772400"/>
              <a:gd name="connsiteY1" fmla="*/ 0 h 2926080"/>
              <a:gd name="connsiteX2" fmla="*/ 7772400 w 7772400"/>
              <a:gd name="connsiteY2" fmla="*/ 2926080 h 2926080"/>
              <a:gd name="connsiteX3" fmla="*/ 0 w 7772400"/>
              <a:gd name="connsiteY3" fmla="*/ 2926080 h 2926080"/>
              <a:gd name="connsiteX4" fmla="*/ 0 w 7772400"/>
              <a:gd name="connsiteY4" fmla="*/ 0 h 2926080"/>
              <a:gd name="connsiteX0" fmla="*/ 0 w 7772400"/>
              <a:gd name="connsiteY0" fmla="*/ 0 h 2926080"/>
              <a:gd name="connsiteX1" fmla="*/ 7772400 w 7772400"/>
              <a:gd name="connsiteY1" fmla="*/ 0 h 2926080"/>
              <a:gd name="connsiteX2" fmla="*/ 7735824 w 7772400"/>
              <a:gd name="connsiteY2" fmla="*/ 1914144 h 2926080"/>
              <a:gd name="connsiteX3" fmla="*/ 0 w 7772400"/>
              <a:gd name="connsiteY3" fmla="*/ 2926080 h 2926080"/>
              <a:gd name="connsiteX4" fmla="*/ 0 w 7772400"/>
              <a:gd name="connsiteY4" fmla="*/ 0 h 2926080"/>
              <a:gd name="connsiteX0" fmla="*/ 0 w 7772400"/>
              <a:gd name="connsiteY0" fmla="*/ 0 h 1914144"/>
              <a:gd name="connsiteX1" fmla="*/ 7772400 w 7772400"/>
              <a:gd name="connsiteY1" fmla="*/ 0 h 1914144"/>
              <a:gd name="connsiteX2" fmla="*/ 7735824 w 7772400"/>
              <a:gd name="connsiteY2" fmla="*/ 1914144 h 1914144"/>
              <a:gd name="connsiteX3" fmla="*/ 24384 w 7772400"/>
              <a:gd name="connsiteY3" fmla="*/ 1828800 h 1914144"/>
              <a:gd name="connsiteX4" fmla="*/ 0 w 7772400"/>
              <a:gd name="connsiteY4" fmla="*/ 0 h 1914144"/>
              <a:gd name="connsiteX0" fmla="*/ 0 w 7772400"/>
              <a:gd name="connsiteY0" fmla="*/ 0 h 1865376"/>
              <a:gd name="connsiteX1" fmla="*/ 7772400 w 7772400"/>
              <a:gd name="connsiteY1" fmla="*/ 0 h 1865376"/>
              <a:gd name="connsiteX2" fmla="*/ 7735824 w 7772400"/>
              <a:gd name="connsiteY2" fmla="*/ 1865376 h 1865376"/>
              <a:gd name="connsiteX3" fmla="*/ 24384 w 7772400"/>
              <a:gd name="connsiteY3" fmla="*/ 1828800 h 1865376"/>
              <a:gd name="connsiteX4" fmla="*/ 0 w 7772400"/>
              <a:gd name="connsiteY4" fmla="*/ 0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2400" h="1865376">
                <a:moveTo>
                  <a:pt x="0" y="0"/>
                </a:moveTo>
                <a:lnTo>
                  <a:pt x="7772400" y="0"/>
                </a:lnTo>
                <a:lnTo>
                  <a:pt x="7735824" y="1865376"/>
                </a:lnTo>
                <a:lnTo>
                  <a:pt x="24384" y="18288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Контекстни прозор – максимална количина токена, која се може узети у обзир у једном тренутку од стране модела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D6A084-5AD5-7670-146C-932F95961340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Контекст</a:t>
            </a:r>
            <a:r>
              <a:rPr lang="sr-Cyrl-RS" sz="2600">
                <a:solidFill>
                  <a:srgbClr val="5C5C5F"/>
                </a:solidFill>
                <a:latin typeface="Arial"/>
                <a:ea typeface="Arial"/>
                <a:cs typeface="Arial"/>
              </a:rPr>
              <a:t>ни прозор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A3F7DE-9E82-1E4F-EADB-52A2FA4EF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45"/>
          <a:stretch/>
        </p:blipFill>
        <p:spPr>
          <a:xfrm>
            <a:off x="2852839" y="1947090"/>
            <a:ext cx="3438322" cy="260931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ED467C-BDB5-0649-D416-911C38EC0C56}"/>
              </a:ext>
            </a:extLst>
          </p:cNvPr>
          <p:cNvSpPr/>
          <p:nvPr/>
        </p:nvSpPr>
        <p:spPr>
          <a:xfrm>
            <a:off x="833292" y="3867912"/>
            <a:ext cx="7409008" cy="548640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 wrap="square" lIns="128016" rIns="128016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400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Потребна је екстерна, дугорочна меморија.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0C98E0-7D3C-7E02-CBAE-8BF24323BFC8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Ограничења контекста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912A3-43BE-0E3C-7391-465700D0BE30}"/>
              </a:ext>
            </a:extLst>
          </p:cNvPr>
          <p:cNvSpPr txBox="1">
            <a:spLocks/>
          </p:cNvSpPr>
          <p:nvPr/>
        </p:nvSpPr>
        <p:spPr>
          <a:xfrm>
            <a:off x="790956" y="1741102"/>
            <a:ext cx="7562088" cy="1594283"/>
          </a:xfrm>
          <a:custGeom>
            <a:avLst/>
            <a:gdLst>
              <a:gd name="connsiteX0" fmla="*/ 0 w 7772400"/>
              <a:gd name="connsiteY0" fmla="*/ 0 h 2926080"/>
              <a:gd name="connsiteX1" fmla="*/ 7772400 w 7772400"/>
              <a:gd name="connsiteY1" fmla="*/ 0 h 2926080"/>
              <a:gd name="connsiteX2" fmla="*/ 7772400 w 7772400"/>
              <a:gd name="connsiteY2" fmla="*/ 2926080 h 2926080"/>
              <a:gd name="connsiteX3" fmla="*/ 0 w 7772400"/>
              <a:gd name="connsiteY3" fmla="*/ 2926080 h 2926080"/>
              <a:gd name="connsiteX4" fmla="*/ 0 w 7772400"/>
              <a:gd name="connsiteY4" fmla="*/ 0 h 2926080"/>
              <a:gd name="connsiteX0" fmla="*/ 0 w 7772400"/>
              <a:gd name="connsiteY0" fmla="*/ 0 h 2926080"/>
              <a:gd name="connsiteX1" fmla="*/ 7772400 w 7772400"/>
              <a:gd name="connsiteY1" fmla="*/ 0 h 2926080"/>
              <a:gd name="connsiteX2" fmla="*/ 7735824 w 7772400"/>
              <a:gd name="connsiteY2" fmla="*/ 1914144 h 2926080"/>
              <a:gd name="connsiteX3" fmla="*/ 0 w 7772400"/>
              <a:gd name="connsiteY3" fmla="*/ 2926080 h 2926080"/>
              <a:gd name="connsiteX4" fmla="*/ 0 w 7772400"/>
              <a:gd name="connsiteY4" fmla="*/ 0 h 2926080"/>
              <a:gd name="connsiteX0" fmla="*/ 0 w 7772400"/>
              <a:gd name="connsiteY0" fmla="*/ 0 h 1914144"/>
              <a:gd name="connsiteX1" fmla="*/ 7772400 w 7772400"/>
              <a:gd name="connsiteY1" fmla="*/ 0 h 1914144"/>
              <a:gd name="connsiteX2" fmla="*/ 7735824 w 7772400"/>
              <a:gd name="connsiteY2" fmla="*/ 1914144 h 1914144"/>
              <a:gd name="connsiteX3" fmla="*/ 24384 w 7772400"/>
              <a:gd name="connsiteY3" fmla="*/ 1828800 h 1914144"/>
              <a:gd name="connsiteX4" fmla="*/ 0 w 7772400"/>
              <a:gd name="connsiteY4" fmla="*/ 0 h 1914144"/>
              <a:gd name="connsiteX0" fmla="*/ 0 w 7772400"/>
              <a:gd name="connsiteY0" fmla="*/ 0 h 1865376"/>
              <a:gd name="connsiteX1" fmla="*/ 7772400 w 7772400"/>
              <a:gd name="connsiteY1" fmla="*/ 0 h 1865376"/>
              <a:gd name="connsiteX2" fmla="*/ 7735824 w 7772400"/>
              <a:gd name="connsiteY2" fmla="*/ 1865376 h 1865376"/>
              <a:gd name="connsiteX3" fmla="*/ 24384 w 7772400"/>
              <a:gd name="connsiteY3" fmla="*/ 1828800 h 1865376"/>
              <a:gd name="connsiteX4" fmla="*/ 0 w 7772400"/>
              <a:gd name="connsiteY4" fmla="*/ 0 h 1865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2400" h="1865376">
                <a:moveTo>
                  <a:pt x="0" y="0"/>
                </a:moveTo>
                <a:lnTo>
                  <a:pt x="7772400" y="0"/>
                </a:lnTo>
                <a:lnTo>
                  <a:pt x="7735824" y="1865376"/>
                </a:lnTo>
                <a:lnTo>
                  <a:pt x="24384" y="18288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Self-attention механизам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Ефективни прозор је знатно мањи од декларисаног 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„Изгубљен у средини”: информација у средини контекста се најлошије користи 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Више контекста може бити горе од никаквог: 56,1% → 52,9% (наспрам 88,3% са тачним документом)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84936"/>
              </p:ext>
            </p:extLst>
          </p:nvPr>
        </p:nvGraphicFramePr>
        <p:xfrm>
          <a:off x="890016" y="1487424"/>
          <a:ext cx="7354824" cy="220446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51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1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1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4880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5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5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5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Процедурална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9586"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Чињенице и преференце: шта агент зна о кориснику.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Конкретни догађаји: шта се десило и са каквим исходом.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Научена правила понашања: како агент ради.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90016" y="3977639"/>
            <a:ext cx="7354824" cy="548640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 wrap="square" lIns="128016" rIns="128016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300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Најспособнији системи комбинују сва три типа.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73964C-5AE6-2807-0549-A097CA220EEB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Типови дугорочне меморије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318433"/>
              </p:ext>
            </p:extLst>
          </p:nvPr>
        </p:nvGraphicFramePr>
        <p:xfrm>
          <a:off x="874776" y="1465347"/>
          <a:ext cx="7159752" cy="280416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781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Корак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Шта обухвата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7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Екстракција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ЛЛМ из разговора издваја само трајно вредне чињенице; ризик је издвојити превише или премало детаља.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27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Структура записа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Најчешће JSON по пољима; засебни записи чувају историју, обједињен профил чува тренутно стање; зависи од типа меморије.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7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Консолидација и ажурирање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Слични записи се спајају; сукоб се решава потпуним преписивањем или ажурирањем појединачних поља.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7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Брисање и одржавање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На основу старости записа, учесталости и скорашњости коришћења.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7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Претрага и коришћење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1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Релевантност зависи од сличности, важности и „снаге”; у контекст се враћа само уско издвојен подскуп.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90F9E2EA-8506-B7BC-8500-1689F2E44C1D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Управљање дугорочном меморијом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736097"/>
            <a:ext cx="7589520" cy="27715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Три обрасца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све у промпту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контекст + екстерно складиште (најчешће у продукцији) 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вишеслојна меморија којом агент сам управља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Складишта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7" indent="-285750">
              <a:buClr>
                <a:srgbClr val="927C71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векторска (сличност)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7" indent="-285750">
              <a:buClr>
                <a:srgbClr val="927C71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структурирана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7" indent="-285750">
              <a:buClr>
                <a:srgbClr val="927C71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извршни репозиторијуми</a:t>
            </a:r>
            <a:endParaRPr lang="en-U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7" indent="-285750">
              <a:buClr>
                <a:srgbClr val="927C71"/>
              </a:buClr>
              <a:buFont typeface="Courier New" panose="02070309020205020404" pitchFamily="49" charset="0"/>
              <a:buChar char="o"/>
              <a:tabLst>
                <a:tab pos="1828800" algn="l"/>
              </a:tabLst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најчешће хибридна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Индексирање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кроз гранулацију или хијерархију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Интеграција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кроз пут писања и пут читања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626749-0AA0-5505-7519-376BCC2D3795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110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Архитектура система са екстерном меморијом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1220343"/>
            <a:ext cx="379476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5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LangGraph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Контролна тачка чува једну нит – краткорочна меморија.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Складиште преживљава нити и сесије – дугорочна меморија.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17720" y="1190244"/>
            <a:ext cx="3794760" cy="80945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5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LangMem SDK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sr-Cyrl-RS" sz="1200" i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Hot-path</a:t>
            </a: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агент сам позива алатку за упис.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sr-Cyrl-RS" sz="1200" i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Background</a:t>
            </a: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посебан менаџер накнадно издваја знање.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6481D-76AA-58B3-6FBC-83DBC301F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588" y="2466227"/>
            <a:ext cx="4306824" cy="20413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A14A50-FE8F-77D6-8636-821737BF2F15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0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LangGraph и LangMem SDK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3915" y="1721189"/>
            <a:ext cx="3977639" cy="27869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Корисник шаље поруку агенту.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LangGraph учитава претходно стање нити (краткорочна меморија).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LangMem претражује складиште (дугорочна меморија) и убацује записе у контекст.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Агент генерише и шаље одговор.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Екстракција нове меморије (</a:t>
            </a:r>
            <a:r>
              <a:rPr lang="sr-Cyrl-RS" i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hot-path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или </a:t>
            </a:r>
            <a:r>
              <a:rPr lang="en-US" i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background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).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Запис постаје доступан свим будућим нитима и сесијама.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5CE84-9520-D8DE-033E-60D770CB1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79" y="1628487"/>
            <a:ext cx="3841895" cy="27414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A452B50-9E66-6B12-1E12-6620C81EE64A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99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Ток извршавања у LangGraph-у и LangMem-у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53059" y="1628487"/>
            <a:ext cx="3886200" cy="250735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3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Агент</a:t>
            </a:r>
          </a:p>
          <a:p>
            <a:pPr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Исти build_graph() у апликацији и у евалуацији; прима режим екстракције и стратегију претраге.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sr-Cyrl-RS" sz="13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Алатке</a:t>
            </a:r>
          </a:p>
          <a:p>
            <a:pPr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Претрага градова и тренутна временска прогноза.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sr-Cyrl-RS" sz="13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Меморија</a:t>
            </a:r>
          </a:p>
          <a:p>
            <a:pPr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LangMem (hot-path / background / both) и PostgreSQL 16 / pgvector; background упис планира ReflectionExecutor.</a:t>
            </a:r>
          </a:p>
          <a:p>
            <a:pPr marL="0" indent="0">
              <a:spcBef>
                <a:spcPts val="1000"/>
              </a:spcBef>
              <a:spcAft>
                <a:spcPts val="0"/>
              </a:spcAft>
              <a:buNone/>
            </a:pPr>
            <a:r>
              <a:rPr lang="sr-Cyrl-RS" sz="1300" b="1">
                <a:solidFill>
                  <a:srgbClr val="927C71"/>
                </a:solidFill>
                <a:latin typeface="Arial"/>
                <a:ea typeface="Arial"/>
                <a:cs typeface="Arial"/>
              </a:rPr>
              <a:t>Модел</a:t>
            </a:r>
          </a:p>
          <a:p>
            <a:pPr marL="0" indent="0">
              <a:spcBef>
                <a:spcPts val="400"/>
              </a:spcBef>
              <a:spcAft>
                <a:spcPts val="0"/>
              </a:spcAft>
              <a:buNone/>
            </a:pP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gpt-4o-mini.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638060-5E21-67D0-6516-AB7F616302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628487"/>
            <a:ext cx="4207967" cy="273951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DB29FB4-1FD0-80D8-73F4-2E67C93B1836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Архитектура система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548841"/>
              </p:ext>
            </p:extLst>
          </p:nvPr>
        </p:nvGraphicFramePr>
        <p:xfrm>
          <a:off x="891540" y="1470199"/>
          <a:ext cx="7360920" cy="2918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Тип меморије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Како се чува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3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Особине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Један JSON профил по кориснику (буџет, клима, школе, болнице, нетрпељивости).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Fetch-merge-write: нова вредност замењује стару; профил се убацује у системски промпт.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Растућа колекција записа: упит, резиме, понуђени градови.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Сада двосмерна: asearch_episodes() враћа до 3 релевантне епизоде </a:t>
                      </a:r>
                      <a:r>
                        <a:rPr lang="sr-Cyrl-RS" sz="140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–</a:t>
                      </a: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 по сличности, кључним речима или хибридно.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Процедурална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Верзије системског промпта у табели procedural_prompts.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Правило понашања: увек навести близину болница на пример.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94BE683-A30D-0646-081A-C4C205CB4B40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Меморија у имплементацији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188720"/>
            <a:ext cx="7589520" cy="10454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Домен примене: претрага и препорука градова погодних за пресељење, на основу корисничких преференци.</a:t>
            </a:r>
          </a:p>
          <a:p>
            <a:pPr marL="210000" indent="-210000">
              <a:spcBef>
                <a:spcPts val="10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Интерфејс је изграђен помоћу библиотеке Gradio; корисник бира варијанту агента (baseline / memory) пре почетка сесије.</a:t>
            </a:r>
          </a:p>
        </p:txBody>
      </p:sp>
      <p:pic>
        <p:nvPicPr>
          <p:cNvPr id="4" name="Picture 3" descr="fig_8_1_ui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146" y="2234134"/>
            <a:ext cx="4443707" cy="24749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AC89394-7D4B-1CE3-EE5E-3033A56C1269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Апликација за претрагу градова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1304" y="1371600"/>
            <a:ext cx="75895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3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Исти упит у новој сесији: „Find me some good places to live.”</a:t>
            </a:r>
          </a:p>
        </p:txBody>
      </p:sp>
      <p:pic>
        <p:nvPicPr>
          <p:cNvPr id="4" name="Picture 3" descr="fig_8_7_chat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04" y="2149973"/>
            <a:ext cx="3657600" cy="1424198"/>
          </a:xfrm>
          <a:prstGeom prst="rect">
            <a:avLst/>
          </a:prstGeom>
        </p:spPr>
      </p:pic>
      <p:pic>
        <p:nvPicPr>
          <p:cNvPr id="5" name="Picture 4" descr="fig_8_8_chat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863" y="1600200"/>
            <a:ext cx="3060833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43484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05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Baseline (без меморије): тражи да корисник поново наведе детаље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9" y="4434840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05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Са меморијом (background): користи преференце из претходне сесије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7C9921-533B-46B3-4CB4-B7D3B3557249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Меморија у пракси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838695"/>
              </p:ext>
            </p:extLst>
          </p:nvPr>
        </p:nvGraphicFramePr>
        <p:xfrm>
          <a:off x="859537" y="1300240"/>
          <a:ext cx="7507223" cy="31249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3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40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Сценарио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Опис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Шта се тестира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Буџет и клима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наведе буџет и климатске услове, а затим, без понављања детаља, тражи препоруку градова.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Преношење експлицитне преференце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Држава и школа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Слично, али са преференцијама везаним за државу и близину школа.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Генерализација на други тип преференце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2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Нетрпељивост (3 сесије)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у једној сесији наведе шта не жели, а то се проверава у две потпуно нове сесије.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Истрајност меморије кроз више сесија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2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Дистрактор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Разговор укључује ирелевантне („шум“) поруке пре циљаног упита.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Отпорност на лажно памћење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11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Опозив епизоде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у првој сесији наведе разлог претраге (ћерка почиње студије у Финиксу), а у новој сесији пита шта је навео као разлог.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Прибављање епизодичке меморије 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939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Разликовање две епизоде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тражи градове у Аризони због ћеркиних студија, затим у Орегону због другог разлога, па пита због чега је тражио Орегон.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Прибављање праве од две епизоде, без мешања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E789866-3BDE-9BB2-9B3A-83A802053ABE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Методологија евалуације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789866-3BDE-9BB2-9B3A-83A802053ABE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Методологија евалуације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CFAA7-58B2-69A3-6157-F15FB32F072A}"/>
              </a:ext>
            </a:extLst>
          </p:cNvPr>
          <p:cNvSpPr txBox="1"/>
          <p:nvPr/>
        </p:nvSpPr>
        <p:spPr>
          <a:xfrm>
            <a:off x="777240" y="1179659"/>
            <a:ext cx="7589520" cy="363330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Комбинација – семантичка и епизодичка заједно (оса </a:t>
            </a: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механизма екстракције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):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baseline, hot-path, background, both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Појединачни типови (оса</a:t>
            </a: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типа меморије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, уз baseline):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само семантичка: hot-path, background, both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само епизодичка: hot-path, background, both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5 понављања по комбинацији </a:t>
            </a:r>
          </a:p>
          <a:p>
            <a:pPr marL="210000" indent="-210000">
              <a:spcBef>
                <a:spcPts val="9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Метрике: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строга тачност прибављене меморије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да ли агент у каснијим сесијама помиње оно што је научио</a:t>
            </a:r>
            <a:endParaRPr lang="sr-Cyrl-R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конзистентност кроз сесије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да ли се чињеница користи стабилно</a:t>
            </a:r>
            <a:endParaRPr lang="sr-Cyrl-R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лажно памћење</a:t>
            </a:r>
            <a:r>
              <a:rPr lang="en-U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ц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урење небитних или погрешних информација</a:t>
            </a:r>
            <a:endParaRPr lang="sr-Cyrl-R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тачност прибављања епизоде</a:t>
            </a:r>
            <a:r>
              <a:rPr lang="en-U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ru-RU" b="0" i="0">
                <a:solidFill>
                  <a:srgbClr val="616161"/>
                </a:solidFill>
                <a:effectLst/>
                <a:latin typeface="-apple-system"/>
              </a:rPr>
              <a:t>удео потеза у којима прва прибављена епизода садржи очекивани детаљ из претходне сесије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ru-RU" b="1">
                <a:solidFill>
                  <a:srgbClr val="616161"/>
                </a:solidFill>
                <a:latin typeface="-apple-system"/>
              </a:rPr>
              <a:t>просечно време одговора</a:t>
            </a:r>
            <a:r>
              <a:rPr lang="ru-RU" b="1" i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ru-RU" b="0" i="0">
                <a:solidFill>
                  <a:srgbClr val="616161"/>
                </a:solidFill>
                <a:effectLst/>
                <a:latin typeface="-apple-system"/>
              </a:rPr>
              <a:t>– просечно време одговора по потезу</a:t>
            </a:r>
          </a:p>
          <a:p>
            <a:pPr marL="548640" lvl="8" indent="-285750">
              <a:buClr>
                <a:srgbClr val="927C71"/>
              </a:buClr>
              <a:buFont typeface="Courier New" panose="02070309020205020404" pitchFamily="49" charset="0"/>
              <a:buChar char="o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кашњење у односу на baseline</a:t>
            </a:r>
            <a:r>
              <a:rPr lang="en-U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колико памћење успорава</a:t>
            </a:r>
          </a:p>
        </p:txBody>
      </p:sp>
    </p:spTree>
    <p:extLst>
      <p:ext uri="{BB962C8B-B14F-4D97-AF65-F5344CB8AC3E}">
        <p14:creationId xmlns:p14="http://schemas.microsoft.com/office/powerpoint/2010/main" val="265315013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_9_1_initi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81" y="1300240"/>
            <a:ext cx="6487838" cy="30401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87C561-6F75-3FE9-D24D-3BE7AA495FF6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Почетни резултати</a:t>
            </a:r>
            <a:r>
              <a:rPr lang="en-U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: </a:t>
            </a:r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тачност меморије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_9_2_fina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921" y="1300240"/>
            <a:ext cx="5416157" cy="2580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773168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950">
                <a:solidFill>
                  <a:srgbClr val="8C8C8C"/>
                </a:solidFill>
                <a:latin typeface="Calibri"/>
                <a:ea typeface="Calibri"/>
                <a:cs typeface="Calibri"/>
              </a:rPr>
              <a:t>Слика 9.2. Строга тачност по сценарију и механизму екстракције — завршни резултати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4AE43D-B876-1620-D3F9-F1B25312AC7A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>
                <a:solidFill>
                  <a:srgbClr val="5C5C5F"/>
                </a:solidFill>
                <a:latin typeface="Arial"/>
                <a:ea typeface="Arial"/>
                <a:cs typeface="Arial"/>
              </a:rPr>
              <a:t>Финални</a:t>
            </a:r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 резултати</a:t>
            </a:r>
            <a:r>
              <a:rPr lang="en-U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: </a:t>
            </a:r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тачност меморије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7824" y="3892197"/>
            <a:ext cx="7488935" cy="777240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 wrap="square" lIns="128016" rIns="128016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Кашњење: hot-path и both до 7,0 с, background до 7,7 с </a:t>
            </a:r>
            <a:r>
              <a:rPr lang="en-U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sr-Cyrl-RS" sz="115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али само у сценаријима са претрагом градова; код опозива и разликовања епизода кашњење је занемарливо (испод 1 с).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77391"/>
              </p:ext>
            </p:extLst>
          </p:nvPr>
        </p:nvGraphicFramePr>
        <p:xfrm>
          <a:off x="890017" y="1300240"/>
          <a:ext cx="7354824" cy="3323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7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5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4852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Сценарио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hot-path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both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Буџет и клима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Буџет и клима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Држава и школа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0,90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0,60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Држава и школа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Нетрпељивост (3 сес.)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Нетрпељивост (3 сес.)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Опозив епизоде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Опозив епизоде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Разликовање две еп.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0,20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Разликовање две еп.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Дистрактор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семантичка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1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Дистрактор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епизодичка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799001C-4792-13E1-F40D-9E3719441D4F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Резултати: тачност по типу меморије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54001"/>
              </p:ext>
            </p:extLst>
          </p:nvPr>
        </p:nvGraphicFramePr>
        <p:xfrm>
          <a:off x="822960" y="1300240"/>
          <a:ext cx="7589520" cy="25786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Сценарио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hot-path: пре → после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both: пре → после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Буџет и клима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 → 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Држава и школа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0,40 → 0,60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 → 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Нетрпељивост (3 сес.)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0,40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Опозив епизоде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→ 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Разликовање две еп.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→ 0,80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Дистрактор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0,00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20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→ 1,00</a:t>
                      </a:r>
                    </a:p>
                  </a:txBody>
                  <a:tcPr marL="91425" marR="91425" marT="54864" marB="54864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4066032"/>
            <a:ext cx="7589520" cy="594360"/>
          </a:xfrm>
          <a:prstGeom prst="rect">
            <a:avLst/>
          </a:prstGeom>
          <a:solidFill>
            <a:srgbClr val="F6F1ED"/>
          </a:solidFill>
          <a:ln>
            <a:noFill/>
          </a:ln>
        </p:spPr>
        <p:txBody>
          <a:bodyPr wrap="square" lIns="128016" rIns="128016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Background остаје стабилно висок (0,80–1,00) у обе верзије </a:t>
            </a:r>
            <a:r>
              <a:rPr lang="en-U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sr-Cyrl-RS" sz="1200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формулација промпта највише утиче на hot-path и both.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D6590F-B078-AF99-7778-B3361ECC397A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Утицај формулације prompt-а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D6590F-B078-AF99-7778-B3361ECC397A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66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Посебне провере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150361-2232-370A-8C9F-EAE29F629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92308"/>
              </p:ext>
            </p:extLst>
          </p:nvPr>
        </p:nvGraphicFramePr>
        <p:xfrm>
          <a:off x="894588" y="1787920"/>
          <a:ext cx="7354824" cy="1821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9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Провера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Како је тестирано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1050" b="1">
                          <a:solidFill>
                            <a:srgbClr val="5C5C5F"/>
                          </a:solidFill>
                          <a:latin typeface="Arial"/>
                          <a:ea typeface="Arial"/>
                          <a:cs typeface="Arial"/>
                        </a:rPr>
                        <a:t>Резултат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6F1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Ажурирање меморије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наведе вредност, па је промени (буџет 200.000 → 300.000 $, држава Тексас → Вермонт), у истој и у новој сесији; 5 понављања.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у свим случајевима – препорука само по новој вредности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Процедурално правило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Корисник тражи да му се увек наведе удаљеност болнице → LangMem оптимизује системски prompt → нова сесија, само процедурална меморија: „Find me warm affordable towns in Florida.“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1,00 (један упит) – болнице наведене за сваки град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1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Стратегије претраге епизода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similarity, keyword и hybrid у сценарију опозива епизоде, у сва три режима; 5 понављања.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Cyrl-RS" sz="950" b="0">
                          <a:solidFill>
                            <a:srgbClr val="5C5C5F"/>
                          </a:solidFill>
                          <a:latin typeface="Calibri"/>
                          <a:ea typeface="Calibri"/>
                          <a:cs typeface="Calibri"/>
                        </a:rPr>
                        <a:t>Све три 1,00 – са једном епизодом не показује која је боља</a:t>
                      </a:r>
                    </a:p>
                  </a:txBody>
                  <a:tcPr marL="91425" marR="91425" anchor="ctr">
                    <a:lnL w="9525" cap="flat" cmpd="sng" algn="ctr">
                      <a:solidFill>
                        <a:srgbClr val="5C5C5F"/>
                      </a:solidFill>
                      <a:prstDash val="solid"/>
                    </a:lnL>
                    <a:lnR w="9525" cap="flat" cmpd="sng" algn="ctr">
                      <a:solidFill>
                        <a:srgbClr val="5C5C5F"/>
                      </a:solidFill>
                      <a:prstDash val="solid"/>
                    </a:lnR>
                    <a:lnT w="9525" cap="flat" cmpd="sng" algn="ctr">
                      <a:solidFill>
                        <a:srgbClr val="5C5C5F"/>
                      </a:solidFill>
                      <a:prstDash val="solid"/>
                    </a:lnT>
                    <a:lnB w="9525" cap="flat" cmpd="sng" algn="ctr">
                      <a:solidFill>
                        <a:srgbClr val="5C5C5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0313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1540689"/>
            <a:ext cx="7589520" cy="274844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10000" indent="-210000">
              <a:spcBef>
                <a:spcPts val="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en-U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LangMem SDK 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јесте библиотека која знатно олакшава рад са меморијом код агената.</a:t>
            </a:r>
          </a:p>
          <a:p>
            <a:pPr marL="210000" indent="-210000">
              <a:spcBef>
                <a:spcPts val="12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Сва три режима са меморијом постижу строгу тачност 0,60–1,00, наспрам 0,00 код агента без ње; background је најдоследнији (1,00 у свих шест сценарија).</a:t>
            </a:r>
          </a:p>
          <a:p>
            <a:pPr marL="210000" indent="-210000">
              <a:spcBef>
                <a:spcPts val="10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Епизодичка меморија сада заиста доприноси: тачност 1,00 за опозив и разликовање епизода, у сва три режима.</a:t>
            </a:r>
          </a:p>
          <a:p>
            <a:pPr marL="210000" indent="-210000">
              <a:spcBef>
                <a:spcPts val="10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Формулација системског промпта утиче на коришћење меморије више него тренутак уписа (hot-path наспрам background); разлика се смањује прецизнијим упутством, али не нестаје.</a:t>
            </a:r>
          </a:p>
          <a:p>
            <a:pPr marL="210000" indent="-210000">
              <a:spcBef>
                <a:spcPts val="1000"/>
              </a:spcBef>
              <a:spcAft>
                <a:spcPts val="0"/>
              </a:spcAft>
              <a:buClr>
                <a:srgbClr val="927C71"/>
              </a:buClr>
              <a:buFont typeface="Arial"/>
              <a:buChar char="•"/>
            </a:pPr>
            <a:r>
              <a:rPr lang="sr-Cyrl-RS" b="1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Будући рад</a:t>
            </a:r>
            <a:r>
              <a:rPr lang="en-U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сценариј</a:t>
            </a:r>
            <a:r>
              <a:rPr lang="sr-Cyrl-RS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и</a:t>
            </a:r>
            <a:r>
              <a:rPr lang="ru-RU">
                <a:solidFill>
                  <a:srgbClr val="5C5C5F"/>
                </a:solidFill>
                <a:latin typeface="Calibri"/>
                <a:ea typeface="Calibri"/>
                <a:cs typeface="Calibri"/>
              </a:rPr>
              <a:t> са више епизода по кориснику ради поређења стратегија претраге, ширу проверу процедуралног правила, као и више понављања ради поузданијег поређења режима екстракције.</a:t>
            </a:r>
            <a:endParaRPr lang="sr-Cyrl-RS">
              <a:solidFill>
                <a:srgbClr val="5C5C5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B860D9-13A3-B506-4F6E-A893C22C1346}"/>
              </a:ext>
            </a:extLst>
          </p:cNvPr>
          <p:cNvSpPr txBox="1">
            <a:spLocks/>
          </p:cNvSpPr>
          <p:nvPr/>
        </p:nvSpPr>
        <p:spPr>
          <a:xfrm>
            <a:off x="777240" y="635875"/>
            <a:ext cx="7354824" cy="55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 spc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sr-Cyrl-RS" sz="2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Закључак</a:t>
            </a:r>
            <a:endParaRPr lang="sr-Cyrl-RS" sz="2600">
              <a:solidFill>
                <a:srgbClr val="5C5C5F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2525868" y="2193053"/>
            <a:ext cx="4092263" cy="757394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3600" b="1">
                <a:solidFill>
                  <a:srgbClr val="5C5C5F"/>
                </a:solidFill>
                <a:latin typeface="Arial"/>
                <a:ea typeface="Arial"/>
                <a:cs typeface="Arial"/>
              </a:rPr>
              <a:t>Хвала на пажњи!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1599</Words>
  <Application>Microsoft Office PowerPoint</Application>
  <PresentationFormat>On-screen Show (16:9)</PresentationFormat>
  <Paragraphs>281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Mulish</vt:lpstr>
      <vt:lpstr>Nunito Light</vt:lpstr>
      <vt:lpstr>Bebas Neue</vt:lpstr>
      <vt:lpstr>Courier New</vt:lpstr>
      <vt:lpstr>DM Sans</vt:lpstr>
      <vt:lpstr>Quicksand</vt:lpstr>
      <vt:lpstr>Calibri</vt:lpstr>
      <vt:lpstr>PT Sans</vt:lpstr>
      <vt:lpstr>-apple-system</vt:lpstr>
      <vt:lpstr>Tahoma</vt:lpstr>
      <vt:lpstr>Arial</vt:lpstr>
      <vt:lpstr>Elegant Bachelor Thesis by Slidesgo</vt:lpstr>
      <vt:lpstr>Имплементација long-term меморије у агентским системима коришћењем LangMem SDK</vt:lpstr>
      <vt:lpstr>PowerPoint Presentation</vt:lpstr>
      <vt:lpstr>Увод и мотивација</vt:lpstr>
      <vt:lpstr>Агентски системи базирани на ЛЛМ-овима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Jovana Malinovic</cp:lastModifiedBy>
  <cp:revision>40</cp:revision>
  <dcterms:modified xsi:type="dcterms:W3CDTF">2026-10-21T04:14:23Z</dcterms:modified>
</cp:coreProperties>
</file>