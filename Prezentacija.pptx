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27"/>
  </p:notesMasterIdLst>
  <p:sldIdLst>
    <p:sldId id="304" r:id="rId2"/>
    <p:sldId id="305" r:id="rId3"/>
    <p:sldId id="337" r:id="rId4"/>
    <p:sldId id="307" r:id="rId5"/>
    <p:sldId id="308" r:id="rId6"/>
    <p:sldId id="310" r:id="rId7"/>
    <p:sldId id="311" r:id="rId8"/>
    <p:sldId id="313" r:id="rId9"/>
    <p:sldId id="314" r:id="rId10"/>
    <p:sldId id="316" r:id="rId11"/>
    <p:sldId id="317" r:id="rId12"/>
    <p:sldId id="318" r:id="rId13"/>
    <p:sldId id="319" r:id="rId14"/>
    <p:sldId id="320" r:id="rId15"/>
    <p:sldId id="323" r:id="rId16"/>
    <p:sldId id="324" r:id="rId17"/>
    <p:sldId id="326" r:id="rId18"/>
    <p:sldId id="338" r:id="rId19"/>
    <p:sldId id="327" r:id="rId20"/>
    <p:sldId id="329" r:id="rId21"/>
    <p:sldId id="330" r:id="rId22"/>
    <p:sldId id="331" r:id="rId23"/>
    <p:sldId id="339" r:id="rId24"/>
    <p:sldId id="333" r:id="rId25"/>
    <p:sldId id="335" r:id="rId26"/>
  </p:sldIdLst>
  <p:sldSz cx="9144000" cy="5143500" type="screen16x9"/>
  <p:notesSz cx="6858000" cy="9144000"/>
  <p:embeddedFontLst>
    <p:embeddedFont>
      <p:font typeface="Bebas Neue" panose="020B0606020202050201" pitchFamily="34" charset="0"/>
      <p:regular r:id="rId28"/>
    </p:embeddedFont>
    <p:embeddedFont>
      <p:font typeface="DM Sans" pitchFamily="2" charset="0"/>
      <p:regular r:id="rId29"/>
      <p:bold r:id="rId30"/>
      <p:italic r:id="rId31"/>
      <p:boldItalic r:id="rId32"/>
    </p:embeddedFont>
    <p:embeddedFont>
      <p:font typeface="Mulish" panose="020B0604020202020204" charset="0"/>
      <p:regular r:id="rId33"/>
      <p:bold r:id="rId34"/>
      <p:italic r:id="rId35"/>
      <p:boldItalic r:id="rId36"/>
    </p:embeddedFont>
    <p:embeddedFont>
      <p:font typeface="Nunito Light" pitchFamily="2" charset="0"/>
      <p:regular r:id="rId37"/>
      <p:italic r:id="rId38"/>
    </p:embeddedFont>
    <p:embeddedFont>
      <p:font typeface="PT Sans" panose="020B0503020203020204" pitchFamily="34" charset="0"/>
      <p:regular r:id="rId39"/>
      <p:bold r:id="rId40"/>
      <p:italic r:id="rId41"/>
      <p:boldItalic r:id="rId42"/>
    </p:embeddedFont>
    <p:embeddedFont>
      <p:font typeface="Quicksand" panose="020B0604020202020204" charset="0"/>
      <p:regular r:id="rId43"/>
      <p:bold r:id="rId44"/>
    </p:embeddedFont>
    <p:embeddedFont>
      <p:font typeface="Tahoma" panose="020B0604030504040204" pitchFamily="34" charset="0"/>
      <p:regular r:id="rId45"/>
      <p:bold r:id="rId4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A34A981-FEA2-465D-8A75-E5CC9D253B4C}">
  <a:tblStyle styleId="{CA34A981-FEA2-465D-8A75-E5CC9D253B4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65170" autoAdjust="0"/>
  </p:normalViewPr>
  <p:slideViewPr>
    <p:cSldViewPr snapToGrid="0">
      <p:cViewPr varScale="1">
        <p:scale>
          <a:sx n="79" d="100"/>
          <a:sy n="79" d="100"/>
        </p:scale>
        <p:origin x="108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2.fntdata"/><Relationship Id="rId21" Type="http://schemas.openxmlformats.org/officeDocument/2006/relationships/slide" Target="slides/slide20.xml"/><Relationship Id="rId34" Type="http://schemas.openxmlformats.org/officeDocument/2006/relationships/font" Target="fonts/font7.fntdata"/><Relationship Id="rId42" Type="http://schemas.openxmlformats.org/officeDocument/2006/relationships/font" Target="fonts/font15.fntdata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2.fntdata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5.fntdata"/><Relationship Id="rId37" Type="http://schemas.openxmlformats.org/officeDocument/2006/relationships/font" Target="fonts/font10.fntdata"/><Relationship Id="rId40" Type="http://schemas.openxmlformats.org/officeDocument/2006/relationships/font" Target="fonts/font13.fntdata"/><Relationship Id="rId45" Type="http://schemas.openxmlformats.org/officeDocument/2006/relationships/font" Target="fonts/font1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schemas.openxmlformats.org/officeDocument/2006/relationships/font" Target="fonts/font9.fntdata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4" Type="http://schemas.openxmlformats.org/officeDocument/2006/relationships/font" Target="fonts/font1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43" Type="http://schemas.openxmlformats.org/officeDocument/2006/relationships/font" Target="fonts/font16.fntdata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6.fntdata"/><Relationship Id="rId38" Type="http://schemas.openxmlformats.org/officeDocument/2006/relationships/font" Target="fonts/font11.fntdata"/><Relationship Id="rId46" Type="http://schemas.openxmlformats.org/officeDocument/2006/relationships/font" Target="fonts/font19.fntdata"/><Relationship Id="rId20" Type="http://schemas.openxmlformats.org/officeDocument/2006/relationships/slide" Target="slides/slide19.xml"/><Relationship Id="rId41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384785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667372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767866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609200" y="1424875"/>
            <a:ext cx="5925600" cy="2079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200" b="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1609200" y="3573775"/>
            <a:ext cx="5942700" cy="47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8" name="Google Shape;28;p4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9" name="Google Shape;29;p4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" name="Google Shape;30;p4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1" name="Google Shape;31;p4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3" name="Google Shape;33;p4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34" name="Google Shape;34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body" idx="1"/>
          </p:nvPr>
        </p:nvSpPr>
        <p:spPr>
          <a:xfrm>
            <a:off x="720000" y="1215750"/>
            <a:ext cx="7704000" cy="32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794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 Light"/>
              <a:buChar char="●"/>
              <a:defRPr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C800"/>
              </a:buClr>
              <a:buSzPts val="1200"/>
              <a:buFont typeface="Nunito Light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C800"/>
              </a:buClr>
              <a:buSzPts val="1200"/>
              <a:buFont typeface="Nunito Light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8" name="Google Shape;38;p5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39" name="Google Shape;39;p5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0" name="Google Shape;40;p5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41" name="Google Shape;41;p5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44" name="Google Shape;44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5"/>
          <p:cNvSpPr txBox="1">
            <a:spLocks noGrp="1"/>
          </p:cNvSpPr>
          <p:nvPr>
            <p:ph type="subTitle" idx="1"/>
          </p:nvPr>
        </p:nvSpPr>
        <p:spPr>
          <a:xfrm>
            <a:off x="4747387" y="1872353"/>
            <a:ext cx="3698100" cy="27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 sz="2800"/>
            </a:lvl9pPr>
          </a:lstStyle>
          <a:p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subTitle" idx="2"/>
          </p:nvPr>
        </p:nvSpPr>
        <p:spPr>
          <a:xfrm>
            <a:off x="726675" y="1872353"/>
            <a:ext cx="3698100" cy="27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 sz="1400" b="0"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 sz="2800"/>
            </a:lvl9pPr>
          </a:lstStyle>
          <a:p>
            <a:endParaRPr/>
          </a:p>
        </p:txBody>
      </p:sp>
      <p:sp>
        <p:nvSpPr>
          <p:cNvPr id="47" name="Google Shape;47;p5"/>
          <p:cNvSpPr txBox="1">
            <a:spLocks noGrp="1"/>
          </p:cNvSpPr>
          <p:nvPr>
            <p:ph type="subTitle" idx="3"/>
          </p:nvPr>
        </p:nvSpPr>
        <p:spPr>
          <a:xfrm>
            <a:off x="726675" y="1313225"/>
            <a:ext cx="3698100" cy="4224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5"/>
          <p:cNvSpPr txBox="1">
            <a:spLocks noGrp="1"/>
          </p:cNvSpPr>
          <p:nvPr>
            <p:ph type="subTitle" idx="4"/>
          </p:nvPr>
        </p:nvSpPr>
        <p:spPr>
          <a:xfrm>
            <a:off x="4747375" y="1313225"/>
            <a:ext cx="3698100" cy="4224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6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51" name="Google Shape;51;p6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52" name="Google Shape;52;p6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53" name="Google Shape;53;p6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54" name="Google Shape;54;p6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55" name="Google Shape;55;p6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56" name="Google Shape;56;p6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57" name="Google Shape;57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7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0" name="Google Shape;60;p7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61" name="Google Shape;61;p7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2" name="Google Shape;62;p7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63" name="Google Shape;63;p7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64" name="Google Shape;64;p7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65" name="Google Shape;65;p7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66" name="Google Shape;66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6266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7"/>
          <p:cNvSpPr txBox="1">
            <a:spLocks noGrp="1"/>
          </p:cNvSpPr>
          <p:nvPr>
            <p:ph type="subTitle" idx="1"/>
          </p:nvPr>
        </p:nvSpPr>
        <p:spPr>
          <a:xfrm>
            <a:off x="720000" y="1347250"/>
            <a:ext cx="7324500" cy="317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8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8"/>
          <p:cNvSpPr txBox="1">
            <a:spLocks noGrp="1"/>
          </p:cNvSpPr>
          <p:nvPr>
            <p:ph type="title"/>
          </p:nvPr>
        </p:nvSpPr>
        <p:spPr>
          <a:xfrm>
            <a:off x="969825" y="2079259"/>
            <a:ext cx="7204500" cy="87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cxnSp>
        <p:nvCxnSpPr>
          <p:cNvPr id="71" name="Google Shape;71;p8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72" name="Google Shape;72;p8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73" name="Google Shape;73;p8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74" name="Google Shape;74;p8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75" name="Google Shape;75;p8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6" name="Google Shape;76;p8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9"/>
          <p:cNvSpPr txBox="1">
            <a:spLocks noGrp="1"/>
          </p:cNvSpPr>
          <p:nvPr>
            <p:ph type="title"/>
          </p:nvPr>
        </p:nvSpPr>
        <p:spPr>
          <a:xfrm>
            <a:off x="720000" y="1413525"/>
            <a:ext cx="4294800" cy="209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9"/>
          <p:cNvSpPr txBox="1">
            <a:spLocks noGrp="1"/>
          </p:cNvSpPr>
          <p:nvPr>
            <p:ph type="subTitle" idx="1"/>
          </p:nvPr>
        </p:nvSpPr>
        <p:spPr>
          <a:xfrm>
            <a:off x="720000" y="3508800"/>
            <a:ext cx="4294800" cy="100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83" name="Google Shape;83;p10"/>
          <p:cNvSpPr txBox="1">
            <a:spLocks noGrp="1"/>
          </p:cNvSpPr>
          <p:nvPr>
            <p:ph type="title"/>
          </p:nvPr>
        </p:nvSpPr>
        <p:spPr>
          <a:xfrm>
            <a:off x="713225" y="4162975"/>
            <a:ext cx="7917300" cy="54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1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6" name="Google Shape;86;p11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87" name="Google Shape;87;p11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8" name="Google Shape;88;p11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89" name="Google Shape;89;p11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90" name="Google Shape;90;p11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1" name="Google Shape;91;p11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92" name="Google Shape;92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429725"/>
            <a:ext cx="6576000" cy="140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93" name="Google Shape;93;p11"/>
          <p:cNvSpPr txBox="1">
            <a:spLocks noGrp="1"/>
          </p:cNvSpPr>
          <p:nvPr>
            <p:ph type="subTitle" idx="1"/>
          </p:nvPr>
        </p:nvSpPr>
        <p:spPr>
          <a:xfrm>
            <a:off x="1284000" y="2985500"/>
            <a:ext cx="6576000" cy="4971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2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subTitle" idx="1"/>
          </p:nvPr>
        </p:nvSpPr>
        <p:spPr>
          <a:xfrm>
            <a:off x="713225" y="20181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3"/>
          <p:cNvSpPr txBox="1">
            <a:spLocks noGrp="1"/>
          </p:cNvSpPr>
          <p:nvPr>
            <p:ph type="subTitle" idx="2"/>
          </p:nvPr>
        </p:nvSpPr>
        <p:spPr>
          <a:xfrm>
            <a:off x="713225" y="3870728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subTitle" idx="3"/>
          </p:nvPr>
        </p:nvSpPr>
        <p:spPr>
          <a:xfrm>
            <a:off x="3359125" y="38707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subTitle" idx="4"/>
          </p:nvPr>
        </p:nvSpPr>
        <p:spPr>
          <a:xfrm>
            <a:off x="3359125" y="20180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1141288"/>
            <a:ext cx="656100" cy="438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3" name="Google Shape;103;p13"/>
          <p:cNvSpPr txBox="1">
            <a:spLocks noGrp="1"/>
          </p:cNvSpPr>
          <p:nvPr>
            <p:ph type="title" idx="6" hasCustomPrompt="1"/>
          </p:nvPr>
        </p:nvSpPr>
        <p:spPr>
          <a:xfrm>
            <a:off x="3359125" y="2994063"/>
            <a:ext cx="656100" cy="43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4" name="Google Shape;104;p13"/>
          <p:cNvSpPr txBox="1">
            <a:spLocks noGrp="1"/>
          </p:cNvSpPr>
          <p:nvPr>
            <p:ph type="title" idx="7" hasCustomPrompt="1"/>
          </p:nvPr>
        </p:nvSpPr>
        <p:spPr>
          <a:xfrm>
            <a:off x="713225" y="2994063"/>
            <a:ext cx="656100" cy="43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5" name="Google Shape;105;p13"/>
          <p:cNvSpPr txBox="1">
            <a:spLocks noGrp="1"/>
          </p:cNvSpPr>
          <p:nvPr>
            <p:ph type="title" idx="8" hasCustomPrompt="1"/>
          </p:nvPr>
        </p:nvSpPr>
        <p:spPr>
          <a:xfrm>
            <a:off x="3359125" y="1142055"/>
            <a:ext cx="656100" cy="438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6" name="Google Shape;106;p13"/>
          <p:cNvSpPr txBox="1">
            <a:spLocks noGrp="1"/>
          </p:cNvSpPr>
          <p:nvPr>
            <p:ph type="subTitle" idx="9"/>
          </p:nvPr>
        </p:nvSpPr>
        <p:spPr>
          <a:xfrm>
            <a:off x="5997638" y="38707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3"/>
          <p:cNvSpPr txBox="1">
            <a:spLocks noGrp="1"/>
          </p:cNvSpPr>
          <p:nvPr>
            <p:ph type="subTitle" idx="13"/>
          </p:nvPr>
        </p:nvSpPr>
        <p:spPr>
          <a:xfrm>
            <a:off x="5997638" y="20180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title" idx="14" hasCustomPrompt="1"/>
          </p:nvPr>
        </p:nvSpPr>
        <p:spPr>
          <a:xfrm>
            <a:off x="5997638" y="2994063"/>
            <a:ext cx="656100" cy="43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9" name="Google Shape;109;p13"/>
          <p:cNvSpPr txBox="1">
            <a:spLocks noGrp="1"/>
          </p:cNvSpPr>
          <p:nvPr>
            <p:ph type="title" idx="15" hasCustomPrompt="1"/>
          </p:nvPr>
        </p:nvSpPr>
        <p:spPr>
          <a:xfrm>
            <a:off x="5997638" y="1142055"/>
            <a:ext cx="656100" cy="438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0" name="Google Shape;110;p13"/>
          <p:cNvSpPr txBox="1">
            <a:spLocks noGrp="1"/>
          </p:cNvSpPr>
          <p:nvPr>
            <p:ph type="subTitle" idx="16"/>
          </p:nvPr>
        </p:nvSpPr>
        <p:spPr>
          <a:xfrm>
            <a:off x="713225" y="1594575"/>
            <a:ext cx="2423100" cy="438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1" name="Google Shape;111;p13"/>
          <p:cNvSpPr txBox="1">
            <a:spLocks noGrp="1"/>
          </p:cNvSpPr>
          <p:nvPr>
            <p:ph type="subTitle" idx="17"/>
          </p:nvPr>
        </p:nvSpPr>
        <p:spPr>
          <a:xfrm>
            <a:off x="713225" y="3447136"/>
            <a:ext cx="2423100" cy="4284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2" name="Google Shape;112;p13"/>
          <p:cNvSpPr txBox="1">
            <a:spLocks noGrp="1"/>
          </p:cNvSpPr>
          <p:nvPr>
            <p:ph type="subTitle" idx="18"/>
          </p:nvPr>
        </p:nvSpPr>
        <p:spPr>
          <a:xfrm>
            <a:off x="3359125" y="3447125"/>
            <a:ext cx="2423100" cy="4284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subTitle" idx="19"/>
          </p:nvPr>
        </p:nvSpPr>
        <p:spPr>
          <a:xfrm>
            <a:off x="3359125" y="1594575"/>
            <a:ext cx="2423100" cy="438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subTitle" idx="20"/>
          </p:nvPr>
        </p:nvSpPr>
        <p:spPr>
          <a:xfrm>
            <a:off x="5997638" y="3447125"/>
            <a:ext cx="2423100" cy="4284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subTitle" idx="21"/>
          </p:nvPr>
        </p:nvSpPr>
        <p:spPr>
          <a:xfrm>
            <a:off x="5997638" y="1594575"/>
            <a:ext cx="2423100" cy="438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16" name="Google Shape;116;p13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17" name="Google Shape;117;p13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8" name="Google Shape;118;p13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19" name="Google Shape;119;p13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20" name="Google Shape;120;p13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21" name="Google Shape;121;p13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4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24" name="Google Shape;124;p14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25" name="Google Shape;125;p14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26" name="Google Shape;126;p14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27" name="Google Shape;127;p14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28" name="Google Shape;128;p14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29" name="Google Shape;129;p14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30" name="Google Shape;130;p14"/>
          <p:cNvSpPr txBox="1">
            <a:spLocks noGrp="1"/>
          </p:cNvSpPr>
          <p:nvPr>
            <p:ph type="title"/>
          </p:nvPr>
        </p:nvSpPr>
        <p:spPr>
          <a:xfrm>
            <a:off x="969900" y="3387600"/>
            <a:ext cx="7204200" cy="531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31" name="Google Shape;131;p14"/>
          <p:cNvSpPr txBox="1">
            <a:spLocks noGrp="1"/>
          </p:cNvSpPr>
          <p:nvPr>
            <p:ph type="subTitle" idx="1"/>
          </p:nvPr>
        </p:nvSpPr>
        <p:spPr>
          <a:xfrm>
            <a:off x="969900" y="1312625"/>
            <a:ext cx="7204200" cy="147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3000"/>
              <a:buNone/>
              <a:defRPr sz="3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9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5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34" name="Google Shape;134;p15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35" name="Google Shape;135;p15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36" name="Google Shape;136;p15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37" name="Google Shape;137;p15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38" name="Google Shape;138;p15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39" name="Google Shape;139;p15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40" name="Google Shape;140;p15"/>
          <p:cNvSpPr txBox="1">
            <a:spLocks noGrp="1"/>
          </p:cNvSpPr>
          <p:nvPr>
            <p:ph type="title"/>
          </p:nvPr>
        </p:nvSpPr>
        <p:spPr>
          <a:xfrm>
            <a:off x="720000" y="1148563"/>
            <a:ext cx="3944700" cy="160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41" name="Google Shape;141;p15"/>
          <p:cNvSpPr txBox="1">
            <a:spLocks noGrp="1"/>
          </p:cNvSpPr>
          <p:nvPr>
            <p:ph type="subTitle" idx="1"/>
          </p:nvPr>
        </p:nvSpPr>
        <p:spPr>
          <a:xfrm>
            <a:off x="720000" y="2878638"/>
            <a:ext cx="3944700" cy="111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15"/>
          <p:cNvSpPr>
            <a:spLocks noGrp="1"/>
          </p:cNvSpPr>
          <p:nvPr>
            <p:ph type="pic" idx="2"/>
          </p:nvPr>
        </p:nvSpPr>
        <p:spPr>
          <a:xfrm>
            <a:off x="5149825" y="691038"/>
            <a:ext cx="3070800" cy="3761400"/>
          </a:xfrm>
          <a:prstGeom prst="ellipse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45" name="Google Shape;145;p16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46" name="Google Shape;146;p16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47" name="Google Shape;147;p16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48" name="Google Shape;148;p16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49" name="Google Shape;149;p16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50" name="Google Shape;150;p16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51" name="Google Shape;151;p16"/>
          <p:cNvSpPr txBox="1">
            <a:spLocks noGrp="1"/>
          </p:cNvSpPr>
          <p:nvPr>
            <p:ph type="title"/>
          </p:nvPr>
        </p:nvSpPr>
        <p:spPr>
          <a:xfrm>
            <a:off x="720000" y="1568400"/>
            <a:ext cx="2891400" cy="70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6"/>
          <p:cNvSpPr txBox="1">
            <a:spLocks noGrp="1"/>
          </p:cNvSpPr>
          <p:nvPr>
            <p:ph type="subTitle" idx="1"/>
          </p:nvPr>
        </p:nvSpPr>
        <p:spPr>
          <a:xfrm>
            <a:off x="720000" y="2268888"/>
            <a:ext cx="2891400" cy="130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7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55" name="Google Shape;155;p17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56" name="Google Shape;156;p17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57" name="Google Shape;157;p17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58" name="Google Shape;158;p17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59" name="Google Shape;159;p17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60" name="Google Shape;160;p17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61" name="Google Shape;161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17"/>
          <p:cNvSpPr txBox="1">
            <a:spLocks noGrp="1"/>
          </p:cNvSpPr>
          <p:nvPr>
            <p:ph type="subTitle" idx="1"/>
          </p:nvPr>
        </p:nvSpPr>
        <p:spPr>
          <a:xfrm>
            <a:off x="937625" y="3071250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17"/>
          <p:cNvSpPr txBox="1">
            <a:spLocks noGrp="1"/>
          </p:cNvSpPr>
          <p:nvPr>
            <p:ph type="subTitle" idx="2"/>
          </p:nvPr>
        </p:nvSpPr>
        <p:spPr>
          <a:xfrm>
            <a:off x="3484346" y="3071250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4" name="Google Shape;164;p17"/>
          <p:cNvSpPr txBox="1">
            <a:spLocks noGrp="1"/>
          </p:cNvSpPr>
          <p:nvPr>
            <p:ph type="subTitle" idx="3"/>
          </p:nvPr>
        </p:nvSpPr>
        <p:spPr>
          <a:xfrm>
            <a:off x="6031074" y="3071250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17"/>
          <p:cNvSpPr txBox="1">
            <a:spLocks noGrp="1"/>
          </p:cNvSpPr>
          <p:nvPr>
            <p:ph type="subTitle" idx="4"/>
          </p:nvPr>
        </p:nvSpPr>
        <p:spPr>
          <a:xfrm>
            <a:off x="937625" y="2690250"/>
            <a:ext cx="2175300" cy="3657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66" name="Google Shape;166;p17"/>
          <p:cNvSpPr txBox="1">
            <a:spLocks noGrp="1"/>
          </p:cNvSpPr>
          <p:nvPr>
            <p:ph type="subTitle" idx="5"/>
          </p:nvPr>
        </p:nvSpPr>
        <p:spPr>
          <a:xfrm>
            <a:off x="3484347" y="2690250"/>
            <a:ext cx="2175300" cy="3657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67" name="Google Shape;167;p17"/>
          <p:cNvSpPr txBox="1">
            <a:spLocks noGrp="1"/>
          </p:cNvSpPr>
          <p:nvPr>
            <p:ph type="subTitle" idx="6"/>
          </p:nvPr>
        </p:nvSpPr>
        <p:spPr>
          <a:xfrm>
            <a:off x="6031075" y="2690250"/>
            <a:ext cx="2175300" cy="3657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6_1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8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70" name="Google Shape;170;p18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71" name="Google Shape;171;p18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72" name="Google Shape;172;p18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73" name="Google Shape;173;p18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74" name="Google Shape;174;p18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75" name="Google Shape;175;p18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76" name="Google Shape;176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18"/>
          <p:cNvSpPr txBox="1">
            <a:spLocks noGrp="1"/>
          </p:cNvSpPr>
          <p:nvPr>
            <p:ph type="subTitle" idx="1"/>
          </p:nvPr>
        </p:nvSpPr>
        <p:spPr>
          <a:xfrm>
            <a:off x="720025" y="1610942"/>
            <a:ext cx="7704000" cy="53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8"/>
          <p:cNvSpPr txBox="1">
            <a:spLocks noGrp="1"/>
          </p:cNvSpPr>
          <p:nvPr>
            <p:ph type="subTitle" idx="2"/>
          </p:nvPr>
        </p:nvSpPr>
        <p:spPr>
          <a:xfrm>
            <a:off x="720025" y="2731125"/>
            <a:ext cx="7704000" cy="52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18"/>
          <p:cNvSpPr txBox="1">
            <a:spLocks noGrp="1"/>
          </p:cNvSpPr>
          <p:nvPr>
            <p:ph type="subTitle" idx="3"/>
          </p:nvPr>
        </p:nvSpPr>
        <p:spPr>
          <a:xfrm>
            <a:off x="720025" y="3851625"/>
            <a:ext cx="7704000" cy="52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18"/>
          <p:cNvSpPr txBox="1">
            <a:spLocks noGrp="1"/>
          </p:cNvSpPr>
          <p:nvPr>
            <p:ph type="subTitle" idx="4"/>
          </p:nvPr>
        </p:nvSpPr>
        <p:spPr>
          <a:xfrm>
            <a:off x="720025" y="1241274"/>
            <a:ext cx="7704000" cy="3936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81" name="Google Shape;181;p18"/>
          <p:cNvSpPr txBox="1">
            <a:spLocks noGrp="1"/>
          </p:cNvSpPr>
          <p:nvPr>
            <p:ph type="subTitle" idx="5"/>
          </p:nvPr>
        </p:nvSpPr>
        <p:spPr>
          <a:xfrm>
            <a:off x="720025" y="2350125"/>
            <a:ext cx="7704000" cy="3936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82" name="Google Shape;182;p18"/>
          <p:cNvSpPr txBox="1">
            <a:spLocks noGrp="1"/>
          </p:cNvSpPr>
          <p:nvPr>
            <p:ph type="subTitle" idx="6"/>
          </p:nvPr>
        </p:nvSpPr>
        <p:spPr>
          <a:xfrm>
            <a:off x="720025" y="3470625"/>
            <a:ext cx="7704000" cy="3936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2">
  <p:cSld name="CUSTOM_6_1_1"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9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85" name="Google Shape;185;p19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86" name="Google Shape;186;p19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87" name="Google Shape;187;p19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88" name="Google Shape;188;p19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89" name="Google Shape;189;p19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0" name="Google Shape;190;p19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91" name="Google Shape;191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19"/>
          <p:cNvSpPr txBox="1">
            <a:spLocks noGrp="1"/>
          </p:cNvSpPr>
          <p:nvPr>
            <p:ph type="subTitle" idx="1"/>
          </p:nvPr>
        </p:nvSpPr>
        <p:spPr>
          <a:xfrm>
            <a:off x="1381625" y="1718025"/>
            <a:ext cx="7042500" cy="52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19"/>
          <p:cNvSpPr txBox="1">
            <a:spLocks noGrp="1"/>
          </p:cNvSpPr>
          <p:nvPr>
            <p:ph type="subTitle" idx="2"/>
          </p:nvPr>
        </p:nvSpPr>
        <p:spPr>
          <a:xfrm>
            <a:off x="1381635" y="2861025"/>
            <a:ext cx="7042500" cy="52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4" name="Google Shape;194;p19"/>
          <p:cNvSpPr txBox="1">
            <a:spLocks noGrp="1"/>
          </p:cNvSpPr>
          <p:nvPr>
            <p:ph type="subTitle" idx="3"/>
          </p:nvPr>
        </p:nvSpPr>
        <p:spPr>
          <a:xfrm>
            <a:off x="1381635" y="4004025"/>
            <a:ext cx="7042500" cy="52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5" name="Google Shape;195;p19"/>
          <p:cNvSpPr txBox="1">
            <a:spLocks noGrp="1"/>
          </p:cNvSpPr>
          <p:nvPr>
            <p:ph type="subTitle" idx="4"/>
          </p:nvPr>
        </p:nvSpPr>
        <p:spPr>
          <a:xfrm>
            <a:off x="1381625" y="1406025"/>
            <a:ext cx="7042500" cy="3336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6" name="Google Shape;196;p19"/>
          <p:cNvSpPr txBox="1">
            <a:spLocks noGrp="1"/>
          </p:cNvSpPr>
          <p:nvPr>
            <p:ph type="subTitle" idx="5"/>
          </p:nvPr>
        </p:nvSpPr>
        <p:spPr>
          <a:xfrm>
            <a:off x="1381625" y="2526575"/>
            <a:ext cx="7042500" cy="3336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7" name="Google Shape;197;p19"/>
          <p:cNvSpPr txBox="1">
            <a:spLocks noGrp="1"/>
          </p:cNvSpPr>
          <p:nvPr>
            <p:ph type="subTitle" idx="6"/>
          </p:nvPr>
        </p:nvSpPr>
        <p:spPr>
          <a:xfrm>
            <a:off x="1381625" y="3647125"/>
            <a:ext cx="7042500" cy="3336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600"/>
              <a:buFont typeface="Bebas Neue"/>
              <a:buNone/>
              <a:defRPr sz="26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0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00" name="Google Shape;200;p20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01" name="Google Shape;201;p20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02" name="Google Shape;202;p20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03" name="Google Shape;203;p20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04" name="Google Shape;204;p20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5" name="Google Shape;205;p20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206" name="Google Shape;206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7" name="Google Shape;207;p20"/>
          <p:cNvSpPr txBox="1">
            <a:spLocks noGrp="1"/>
          </p:cNvSpPr>
          <p:nvPr>
            <p:ph type="subTitle" idx="1"/>
          </p:nvPr>
        </p:nvSpPr>
        <p:spPr>
          <a:xfrm>
            <a:off x="1545775" y="1975263"/>
            <a:ext cx="2556900" cy="91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20"/>
          <p:cNvSpPr txBox="1">
            <a:spLocks noGrp="1"/>
          </p:cNvSpPr>
          <p:nvPr>
            <p:ph type="subTitle" idx="2"/>
          </p:nvPr>
        </p:nvSpPr>
        <p:spPr>
          <a:xfrm>
            <a:off x="5041325" y="1975263"/>
            <a:ext cx="2556900" cy="91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9" name="Google Shape;209;p20"/>
          <p:cNvSpPr txBox="1">
            <a:spLocks noGrp="1"/>
          </p:cNvSpPr>
          <p:nvPr>
            <p:ph type="subTitle" idx="3"/>
          </p:nvPr>
        </p:nvSpPr>
        <p:spPr>
          <a:xfrm>
            <a:off x="1545775" y="3691500"/>
            <a:ext cx="2556900" cy="91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0" name="Google Shape;210;p20"/>
          <p:cNvSpPr txBox="1">
            <a:spLocks noGrp="1"/>
          </p:cNvSpPr>
          <p:nvPr>
            <p:ph type="subTitle" idx="4"/>
          </p:nvPr>
        </p:nvSpPr>
        <p:spPr>
          <a:xfrm>
            <a:off x="5041325" y="3691500"/>
            <a:ext cx="2556900" cy="91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1" name="Google Shape;211;p20"/>
          <p:cNvSpPr txBox="1">
            <a:spLocks noGrp="1"/>
          </p:cNvSpPr>
          <p:nvPr>
            <p:ph type="subTitle" idx="5"/>
          </p:nvPr>
        </p:nvSpPr>
        <p:spPr>
          <a:xfrm>
            <a:off x="1545775" y="1670463"/>
            <a:ext cx="2556900" cy="354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12" name="Google Shape;212;p20"/>
          <p:cNvSpPr txBox="1">
            <a:spLocks noGrp="1"/>
          </p:cNvSpPr>
          <p:nvPr>
            <p:ph type="subTitle" idx="6"/>
          </p:nvPr>
        </p:nvSpPr>
        <p:spPr>
          <a:xfrm>
            <a:off x="5041325" y="1670463"/>
            <a:ext cx="2556900" cy="354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13" name="Google Shape;213;p20"/>
          <p:cNvSpPr txBox="1">
            <a:spLocks noGrp="1"/>
          </p:cNvSpPr>
          <p:nvPr>
            <p:ph type="subTitle" idx="7"/>
          </p:nvPr>
        </p:nvSpPr>
        <p:spPr>
          <a:xfrm>
            <a:off x="1545775" y="3386700"/>
            <a:ext cx="2556900" cy="354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14" name="Google Shape;214;p20"/>
          <p:cNvSpPr txBox="1">
            <a:spLocks noGrp="1"/>
          </p:cNvSpPr>
          <p:nvPr>
            <p:ph type="subTitle" idx="8"/>
          </p:nvPr>
        </p:nvSpPr>
        <p:spPr>
          <a:xfrm>
            <a:off x="5041325" y="3386700"/>
            <a:ext cx="2556900" cy="354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_1"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1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17" name="Google Shape;217;p21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18" name="Google Shape;218;p21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19" name="Google Shape;219;p21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20" name="Google Shape;220;p21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21" name="Google Shape;221;p21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22" name="Google Shape;222;p21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223" name="Google Shape;223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24" name="Google Shape;224;p21"/>
          <p:cNvSpPr txBox="1">
            <a:spLocks noGrp="1"/>
          </p:cNvSpPr>
          <p:nvPr>
            <p:ph type="subTitle" idx="1"/>
          </p:nvPr>
        </p:nvSpPr>
        <p:spPr>
          <a:xfrm>
            <a:off x="903950" y="2149201"/>
            <a:ext cx="21912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5" name="Google Shape;225;p21"/>
          <p:cNvSpPr txBox="1">
            <a:spLocks noGrp="1"/>
          </p:cNvSpPr>
          <p:nvPr>
            <p:ph type="subTitle" idx="2"/>
          </p:nvPr>
        </p:nvSpPr>
        <p:spPr>
          <a:xfrm>
            <a:off x="3478550" y="2149201"/>
            <a:ext cx="21825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21"/>
          <p:cNvSpPr txBox="1">
            <a:spLocks noGrp="1"/>
          </p:cNvSpPr>
          <p:nvPr>
            <p:ph type="subTitle" idx="3"/>
          </p:nvPr>
        </p:nvSpPr>
        <p:spPr>
          <a:xfrm>
            <a:off x="903950" y="3579425"/>
            <a:ext cx="21912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7" name="Google Shape;227;p21"/>
          <p:cNvSpPr txBox="1">
            <a:spLocks noGrp="1"/>
          </p:cNvSpPr>
          <p:nvPr>
            <p:ph type="subTitle" idx="4"/>
          </p:nvPr>
        </p:nvSpPr>
        <p:spPr>
          <a:xfrm>
            <a:off x="3478550" y="3579425"/>
            <a:ext cx="21825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8" name="Google Shape;228;p21"/>
          <p:cNvSpPr txBox="1">
            <a:spLocks noGrp="1"/>
          </p:cNvSpPr>
          <p:nvPr>
            <p:ph type="subTitle" idx="5"/>
          </p:nvPr>
        </p:nvSpPr>
        <p:spPr>
          <a:xfrm>
            <a:off x="6048850" y="2149201"/>
            <a:ext cx="21999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9" name="Google Shape;229;p21"/>
          <p:cNvSpPr txBox="1">
            <a:spLocks noGrp="1"/>
          </p:cNvSpPr>
          <p:nvPr>
            <p:ph type="subTitle" idx="6"/>
          </p:nvPr>
        </p:nvSpPr>
        <p:spPr>
          <a:xfrm>
            <a:off x="6048850" y="3579425"/>
            <a:ext cx="21999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0" name="Google Shape;230;p21"/>
          <p:cNvSpPr txBox="1">
            <a:spLocks noGrp="1"/>
          </p:cNvSpPr>
          <p:nvPr>
            <p:ph type="subTitle" idx="7"/>
          </p:nvPr>
        </p:nvSpPr>
        <p:spPr>
          <a:xfrm>
            <a:off x="908250" y="1656600"/>
            <a:ext cx="2182500" cy="4425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31" name="Google Shape;231;p21"/>
          <p:cNvSpPr txBox="1">
            <a:spLocks noGrp="1"/>
          </p:cNvSpPr>
          <p:nvPr>
            <p:ph type="subTitle" idx="8"/>
          </p:nvPr>
        </p:nvSpPr>
        <p:spPr>
          <a:xfrm>
            <a:off x="3482836" y="1656600"/>
            <a:ext cx="2173800" cy="4425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32" name="Google Shape;232;p21"/>
          <p:cNvSpPr txBox="1">
            <a:spLocks noGrp="1"/>
          </p:cNvSpPr>
          <p:nvPr>
            <p:ph type="subTitle" idx="9"/>
          </p:nvPr>
        </p:nvSpPr>
        <p:spPr>
          <a:xfrm>
            <a:off x="6053173" y="1656600"/>
            <a:ext cx="2191200" cy="4425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33" name="Google Shape;233;p21"/>
          <p:cNvSpPr txBox="1">
            <a:spLocks noGrp="1"/>
          </p:cNvSpPr>
          <p:nvPr>
            <p:ph type="subTitle" idx="13"/>
          </p:nvPr>
        </p:nvSpPr>
        <p:spPr>
          <a:xfrm>
            <a:off x="908250" y="3086800"/>
            <a:ext cx="2182500" cy="4425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34" name="Google Shape;234;p21"/>
          <p:cNvSpPr txBox="1">
            <a:spLocks noGrp="1"/>
          </p:cNvSpPr>
          <p:nvPr>
            <p:ph type="subTitle" idx="14"/>
          </p:nvPr>
        </p:nvSpPr>
        <p:spPr>
          <a:xfrm>
            <a:off x="3482836" y="3086800"/>
            <a:ext cx="2173800" cy="4425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35" name="Google Shape;235;p21"/>
          <p:cNvSpPr txBox="1">
            <a:spLocks noGrp="1"/>
          </p:cNvSpPr>
          <p:nvPr>
            <p:ph type="subTitle" idx="15"/>
          </p:nvPr>
        </p:nvSpPr>
        <p:spPr>
          <a:xfrm>
            <a:off x="6053173" y="3086800"/>
            <a:ext cx="2191200" cy="4425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_1"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2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38" name="Google Shape;238;p22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39" name="Google Shape;239;p22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40" name="Google Shape;240;p22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41" name="Google Shape;241;p22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42" name="Google Shape;242;p22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43" name="Google Shape;243;p22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244" name="Google Shape;244;p22"/>
          <p:cNvSpPr txBox="1">
            <a:spLocks noGrp="1"/>
          </p:cNvSpPr>
          <p:nvPr>
            <p:ph type="title" hasCustomPrompt="1"/>
          </p:nvPr>
        </p:nvSpPr>
        <p:spPr>
          <a:xfrm>
            <a:off x="2223600" y="552112"/>
            <a:ext cx="46968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45" name="Google Shape;245;p22"/>
          <p:cNvSpPr txBox="1">
            <a:spLocks noGrp="1"/>
          </p:cNvSpPr>
          <p:nvPr>
            <p:ph type="subTitle" idx="1"/>
          </p:nvPr>
        </p:nvSpPr>
        <p:spPr>
          <a:xfrm>
            <a:off x="2223600" y="1364275"/>
            <a:ext cx="4696800" cy="4287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246" name="Google Shape;246;p22"/>
          <p:cNvSpPr txBox="1">
            <a:spLocks noGrp="1"/>
          </p:cNvSpPr>
          <p:nvPr>
            <p:ph type="title" idx="2" hasCustomPrompt="1"/>
          </p:nvPr>
        </p:nvSpPr>
        <p:spPr>
          <a:xfrm>
            <a:off x="2223600" y="1904368"/>
            <a:ext cx="46968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47" name="Google Shape;247;p22"/>
          <p:cNvSpPr txBox="1">
            <a:spLocks noGrp="1"/>
          </p:cNvSpPr>
          <p:nvPr>
            <p:ph type="subTitle" idx="3"/>
          </p:nvPr>
        </p:nvSpPr>
        <p:spPr>
          <a:xfrm>
            <a:off x="2223600" y="2716527"/>
            <a:ext cx="4696800" cy="4467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248" name="Google Shape;248;p22"/>
          <p:cNvSpPr txBox="1">
            <a:spLocks noGrp="1"/>
          </p:cNvSpPr>
          <p:nvPr>
            <p:ph type="title" idx="4" hasCustomPrompt="1"/>
          </p:nvPr>
        </p:nvSpPr>
        <p:spPr>
          <a:xfrm>
            <a:off x="2223600" y="3256624"/>
            <a:ext cx="46968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49" name="Google Shape;249;p22"/>
          <p:cNvSpPr txBox="1">
            <a:spLocks noGrp="1"/>
          </p:cNvSpPr>
          <p:nvPr>
            <p:ph type="subTitle" idx="5"/>
          </p:nvPr>
        </p:nvSpPr>
        <p:spPr>
          <a:xfrm>
            <a:off x="2223600" y="4068797"/>
            <a:ext cx="4696800" cy="4467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3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23"/>
          <p:cNvSpPr txBox="1">
            <a:spLocks noGrp="1"/>
          </p:cNvSpPr>
          <p:nvPr>
            <p:ph type="title"/>
          </p:nvPr>
        </p:nvSpPr>
        <p:spPr>
          <a:xfrm>
            <a:off x="2347938" y="5400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75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p23"/>
          <p:cNvSpPr txBox="1">
            <a:spLocks noGrp="1"/>
          </p:cNvSpPr>
          <p:nvPr>
            <p:ph type="subTitle" idx="1"/>
          </p:nvPr>
        </p:nvSpPr>
        <p:spPr>
          <a:xfrm>
            <a:off x="2347900" y="1717825"/>
            <a:ext cx="4448100" cy="12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4" name="Google Shape;254;p23"/>
          <p:cNvSpPr txBox="1"/>
          <p:nvPr/>
        </p:nvSpPr>
        <p:spPr>
          <a:xfrm>
            <a:off x="2099100" y="36119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rPr>
              <a:t>CREDITS: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 b="1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rPr>
              <a:t>,</a:t>
            </a:r>
            <a:r>
              <a:rPr lang="en" sz="12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rPr>
              <a:t> and includes icons by</a:t>
            </a:r>
            <a:r>
              <a:rPr lang="en" sz="1200" b="1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rPr>
              <a:t> </a:t>
            </a:r>
            <a:r>
              <a:rPr lang="en" sz="1200" b="1" u="sng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 b="1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rPr>
              <a:t>,</a:t>
            </a:r>
            <a:r>
              <a:rPr lang="en" sz="12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rPr>
              <a:t> and infographics &amp; images by </a:t>
            </a:r>
            <a:r>
              <a:rPr lang="en" sz="1200" b="1" u="sng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b="1" u="sng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rPr>
              <a:t> </a:t>
            </a:r>
            <a:endParaRPr sz="1200" b="1" u="sng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</p:txBody>
      </p:sp>
      <p:cxnSp>
        <p:nvCxnSpPr>
          <p:cNvPr id="255" name="Google Shape;255;p23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56" name="Google Shape;256;p23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57" name="Google Shape;257;p23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58" name="Google Shape;258;p23"/>
          <p:cNvCxnSpPr/>
          <p:nvPr/>
        </p:nvCxnSpPr>
        <p:spPr>
          <a:xfrm rot="10800000" flipH="1">
            <a:off x="347659" y="4749851"/>
            <a:ext cx="8448600" cy="330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7"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4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2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62" name="Google Shape;262;p24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63" name="Google Shape;263;p24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64" name="Google Shape;264;p24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65" name="Google Shape;265;p24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66" name="Google Shape;266;p24"/>
          <p:cNvSpPr txBox="1">
            <a:spLocks noGrp="1"/>
          </p:cNvSpPr>
          <p:nvPr>
            <p:ph type="sldNum" idx="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lt1"/>
                </a:solidFill>
              </a:defRPr>
            </a:lvl1pPr>
            <a:lvl2pPr lvl="1" algn="ctr" rtl="0">
              <a:buNone/>
              <a:defRPr>
                <a:solidFill>
                  <a:schemeClr val="lt1"/>
                </a:solidFill>
              </a:defRPr>
            </a:lvl2pPr>
            <a:lvl3pPr lvl="2" algn="ctr" rtl="0">
              <a:buNone/>
              <a:defRPr>
                <a:solidFill>
                  <a:schemeClr val="lt1"/>
                </a:solidFill>
              </a:defRPr>
            </a:lvl3pPr>
            <a:lvl4pPr lvl="3" algn="ctr" rtl="0">
              <a:buNone/>
              <a:defRPr>
                <a:solidFill>
                  <a:schemeClr val="lt1"/>
                </a:solidFill>
              </a:defRPr>
            </a:lvl4pPr>
            <a:lvl5pPr lvl="4" algn="ctr" rtl="0">
              <a:buNone/>
              <a:defRPr>
                <a:solidFill>
                  <a:schemeClr val="lt1"/>
                </a:solidFill>
              </a:defRPr>
            </a:lvl5pPr>
            <a:lvl6pPr lvl="5" algn="ctr" rtl="0">
              <a:buNone/>
              <a:defRPr>
                <a:solidFill>
                  <a:schemeClr val="lt1"/>
                </a:solidFill>
              </a:defRPr>
            </a:lvl6pPr>
            <a:lvl7pPr lvl="6" algn="ctr" rtl="0">
              <a:buNone/>
              <a:defRPr>
                <a:solidFill>
                  <a:schemeClr val="lt1"/>
                </a:solidFill>
              </a:defRPr>
            </a:lvl7pPr>
            <a:lvl8pPr lvl="7" algn="ctr" rtl="0">
              <a:buNone/>
              <a:defRPr>
                <a:solidFill>
                  <a:schemeClr val="lt1"/>
                </a:solidFill>
              </a:defRPr>
            </a:lvl8pPr>
            <a:lvl9pPr lvl="8" algn="ctr" rtl="0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67" name="Google Shape;267;p24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"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0" name="Google Shape;270;p25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71" name="Google Shape;271;p25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72" name="Google Shape;272;p25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73" name="Google Shape;273;p25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74" name="Google Shape;274;p25"/>
          <p:cNvCxnSpPr/>
          <p:nvPr/>
        </p:nvCxnSpPr>
        <p:spPr>
          <a:xfrm rot="10800000" flipH="1">
            <a:off x="347659" y="4749851"/>
            <a:ext cx="8448600" cy="330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400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1pPr>
            <a:lvl2pPr lvl="1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2pPr>
            <a:lvl3pPr lvl="2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3pPr>
            <a:lvl4pPr lvl="3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4pPr>
            <a:lvl5pPr lvl="4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5pPr>
            <a:lvl6pPr lvl="5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6pPr>
            <a:lvl7pPr lvl="6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7pPr>
            <a:lvl8pPr lvl="7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8pPr>
            <a:lvl9pPr lvl="8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5147" y="1799360"/>
            <a:ext cx="6433706" cy="1540147"/>
          </a:xfrm>
        </p:spPr>
        <p:txBody>
          <a:bodyPr/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sr-Cyrl-RS" sz="2800" b="1">
                <a:solidFill>
                  <a:srgbClr val="5C5C5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Имплементација </a:t>
            </a:r>
            <a:r>
              <a:rPr lang="sr-Cyrl-RS" sz="2800" b="1" i="1">
                <a:solidFill>
                  <a:srgbClr val="5C5C5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long-term</a:t>
            </a:r>
            <a:r>
              <a:rPr lang="sr-Cyrl-RS" sz="2800" b="1">
                <a:solidFill>
                  <a:srgbClr val="5C5C5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меморије у агентским системима коришћењем </a:t>
            </a:r>
            <a:r>
              <a:rPr lang="sr-Cyrl-RS" sz="2800" b="1" i="1">
                <a:solidFill>
                  <a:srgbClr val="5C5C5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LangMem SDK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6D8071-66C3-A8AF-149E-51676F173973}"/>
              </a:ext>
            </a:extLst>
          </p:cNvPr>
          <p:cNvSpPr txBox="1"/>
          <p:nvPr/>
        </p:nvSpPr>
        <p:spPr>
          <a:xfrm>
            <a:off x="972327" y="3956336"/>
            <a:ext cx="2369741" cy="4401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r-Cyrl-RS" sz="125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Студент</a:t>
            </a:r>
            <a:r>
              <a:rPr lang="en-US" sz="125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sr-Cyrl-RS" sz="1250">
                <a:solidFill>
                  <a:schemeClr val="tx2">
                    <a:lumMod val="50000"/>
                  </a:schemeClr>
                </a:solidFill>
                <a:latin typeface="Calibri"/>
                <a:ea typeface="Calibri"/>
                <a:cs typeface="Calibri"/>
              </a:rPr>
              <a:t>Јована Малиновић, бр. инд. 2133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08A1B9-8289-D3E8-B2E5-DB4A5F20EB1E}"/>
              </a:ext>
            </a:extLst>
          </p:cNvPr>
          <p:cNvSpPr txBox="1"/>
          <p:nvPr/>
        </p:nvSpPr>
        <p:spPr>
          <a:xfrm>
            <a:off x="6027343" y="3930687"/>
            <a:ext cx="2144330" cy="46576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r-Cyrl-RS" sz="125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Ментор</a:t>
            </a:r>
            <a:r>
              <a:rPr lang="en-US" sz="125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:</a:t>
            </a:r>
            <a:endParaRPr lang="sr-Cyrl-RS" sz="125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  <a:p>
            <a:pPr marL="0" indent="0">
              <a:spcBef>
                <a:spcPts val="200"/>
              </a:spcBef>
              <a:spcAft>
                <a:spcPts val="0"/>
              </a:spcAft>
              <a:buNone/>
            </a:pPr>
            <a:r>
              <a:rPr lang="sr-Cyrl-RS" sz="1250">
                <a:solidFill>
                  <a:schemeClr val="tx2">
                    <a:lumMod val="50000"/>
                  </a:schemeClr>
                </a:solidFill>
                <a:latin typeface="Calibri"/>
                <a:ea typeface="Calibri"/>
                <a:cs typeface="Calibri"/>
              </a:rPr>
              <a:t>Проф. др Милош Богдановић</a:t>
            </a:r>
          </a:p>
        </p:txBody>
      </p:sp>
      <p:pic>
        <p:nvPicPr>
          <p:cNvPr id="10" name="Picture 9" descr="A red circle with white text and two people in it&#10;&#10;AI-generated content may be incorrect.">
            <a:extLst>
              <a:ext uri="{FF2B5EF4-FFF2-40B4-BE49-F238E27FC236}">
                <a16:creationId xmlns:a16="http://schemas.microsoft.com/office/drawing/2014/main" id="{2ABC68D2-3C54-E12A-433F-2CA08D8555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950" y="575461"/>
            <a:ext cx="658368" cy="658368"/>
          </a:xfrm>
          <a:prstGeom prst="rect">
            <a:avLst/>
          </a:prstGeom>
        </p:spPr>
      </p:pic>
      <p:pic>
        <p:nvPicPr>
          <p:cNvPr id="11" name="Picture 10" descr="A blue circle with a letter in it&#10;&#10;AI-generated content may be incorrect.">
            <a:extLst>
              <a:ext uri="{FF2B5EF4-FFF2-40B4-BE49-F238E27FC236}">
                <a16:creationId xmlns:a16="http://schemas.microsoft.com/office/drawing/2014/main" id="{19BC85D5-FD9A-6D7E-0084-1A153C3CE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0889" y="577902"/>
            <a:ext cx="655927" cy="65592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1">
            <a:extLst>
              <a:ext uri="{FF2B5EF4-FFF2-40B4-BE49-F238E27FC236}">
                <a16:creationId xmlns:a16="http://schemas.microsoft.com/office/drawing/2014/main" id="{1F3250D8-B682-EE81-8DEA-960B09B7034E}"/>
              </a:ext>
            </a:extLst>
          </p:cNvPr>
          <p:cNvSpPr txBox="1">
            <a:spLocks/>
          </p:cNvSpPr>
          <p:nvPr/>
        </p:nvSpPr>
        <p:spPr>
          <a:xfrm>
            <a:off x="777240" y="635875"/>
            <a:ext cx="77724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sr-Cyrl-RS" sz="2600">
                <a:solidFill>
                  <a:srgbClr val="5C5C5F"/>
                </a:solidFill>
                <a:latin typeface="Arial"/>
                <a:ea typeface="Arial"/>
                <a:cs typeface="Arial"/>
              </a:rPr>
              <a:t>Садржај</a:t>
            </a:r>
            <a:endParaRPr lang="sr-Cyrl-RS" sz="2600">
              <a:solidFill>
                <a:srgbClr val="5C5C5F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</p:txBody>
      </p:sp>
      <p:sp>
        <p:nvSpPr>
          <p:cNvPr id="60" name="Subtitle 2">
            <a:extLst>
              <a:ext uri="{FF2B5EF4-FFF2-40B4-BE49-F238E27FC236}">
                <a16:creationId xmlns:a16="http://schemas.microsoft.com/office/drawing/2014/main" id="{7D6F4C22-7A6A-D706-C50A-FFB7B3D0F3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40" y="2082250"/>
            <a:ext cx="2246925" cy="530898"/>
          </a:xfrm>
        </p:spPr>
        <p:txBody>
          <a:bodyPr/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sr-Cyrl-RS" sz="1000">
                <a:solidFill>
                  <a:srgbClr val="8C8C8C"/>
                </a:solidFill>
                <a:latin typeface="Calibri"/>
                <a:ea typeface="Calibri"/>
                <a:cs typeface="Calibri"/>
              </a:rPr>
              <a:t>Мотивација и циљ рада</a:t>
            </a:r>
          </a:p>
        </p:txBody>
      </p:sp>
      <p:sp>
        <p:nvSpPr>
          <p:cNvPr id="61" name="Subtitle 5">
            <a:extLst>
              <a:ext uri="{FF2B5EF4-FFF2-40B4-BE49-F238E27FC236}">
                <a16:creationId xmlns:a16="http://schemas.microsoft.com/office/drawing/2014/main" id="{BC9A12C4-FA6B-D961-309C-25F5CAEA4AAE}"/>
              </a:ext>
            </a:extLst>
          </p:cNvPr>
          <p:cNvSpPr txBox="1">
            <a:spLocks/>
          </p:cNvSpPr>
          <p:nvPr/>
        </p:nvSpPr>
        <p:spPr>
          <a:xfrm>
            <a:off x="3423140" y="2082150"/>
            <a:ext cx="2246925" cy="530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None/>
              <a:defRPr sz="1400" b="0" i="0" u="none" strike="noStrike" cap="none" spc="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None/>
              <a:defRPr sz="1400" b="0" i="0" u="none" strike="noStrike" cap="none" spc="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None/>
              <a:defRPr sz="1400" b="0" i="0" u="none" strike="noStrike" cap="none" spc="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None/>
              <a:defRPr sz="1400" b="0" i="0" u="none" strike="noStrike" cap="none" spc="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None/>
              <a:defRPr sz="1400" b="0" i="0" u="none" strike="noStrike" cap="none" spc="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None/>
              <a:defRPr sz="1400" b="0" i="0" u="none" strike="noStrike" cap="none" spc="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None/>
              <a:defRPr sz="1400" b="0" i="0" u="none" strike="noStrike" cap="none" spc="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None/>
              <a:defRPr sz="1400" b="0" i="0" u="none" strike="noStrike" cap="none" spc="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Mulish"/>
              <a:buNone/>
              <a:defRPr sz="1400" b="0" i="0" u="none" strike="noStrike" cap="none" spc="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9pPr>
          </a:lstStyle>
          <a:p>
            <a:pPr marL="0" indent="0"/>
            <a:r>
              <a:rPr lang="sr-Cyrl-RS" sz="1000">
                <a:solidFill>
                  <a:srgbClr val="8C8C8C"/>
                </a:solidFill>
                <a:latin typeface="Calibri"/>
                <a:ea typeface="Calibri"/>
                <a:cs typeface="Calibri"/>
              </a:rPr>
              <a:t>Агенти, контекстни прозор и дугорочна меморија</a:t>
            </a:r>
          </a:p>
        </p:txBody>
      </p:sp>
      <p:sp>
        <p:nvSpPr>
          <p:cNvPr id="62" name="Title 6">
            <a:extLst>
              <a:ext uri="{FF2B5EF4-FFF2-40B4-BE49-F238E27FC236}">
                <a16:creationId xmlns:a16="http://schemas.microsoft.com/office/drawing/2014/main" id="{FC2B38A9-62E6-5371-015C-BE0353FEDA83}"/>
              </a:ext>
            </a:extLst>
          </p:cNvPr>
          <p:cNvSpPr txBox="1">
            <a:spLocks/>
          </p:cNvSpPr>
          <p:nvPr/>
        </p:nvSpPr>
        <p:spPr>
          <a:xfrm>
            <a:off x="777240" y="1208575"/>
            <a:ext cx="607645" cy="432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2800" b="1" i="0" u="none" strike="noStrike" cap="none" spc="0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sr-Cyrl-RS" sz="2000">
                <a:solidFill>
                  <a:srgbClr val="927C71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3" name="Title 7">
            <a:extLst>
              <a:ext uri="{FF2B5EF4-FFF2-40B4-BE49-F238E27FC236}">
                <a16:creationId xmlns:a16="http://schemas.microsoft.com/office/drawing/2014/main" id="{D6D468B6-5793-EA50-6127-E90E7AC6A6BB}"/>
              </a:ext>
            </a:extLst>
          </p:cNvPr>
          <p:cNvSpPr txBox="1">
            <a:spLocks/>
          </p:cNvSpPr>
          <p:nvPr/>
        </p:nvSpPr>
        <p:spPr>
          <a:xfrm>
            <a:off x="3423140" y="3061350"/>
            <a:ext cx="607645" cy="432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2800" b="1" i="0" u="none" strike="noStrike" cap="none" spc="0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sr-Cyrl-RS" sz="2000">
                <a:solidFill>
                  <a:srgbClr val="927C71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4" name="Title 8">
            <a:extLst>
              <a:ext uri="{FF2B5EF4-FFF2-40B4-BE49-F238E27FC236}">
                <a16:creationId xmlns:a16="http://schemas.microsoft.com/office/drawing/2014/main" id="{4494E923-43F1-37D9-0467-61C958152FE9}"/>
              </a:ext>
            </a:extLst>
          </p:cNvPr>
          <p:cNvSpPr txBox="1">
            <a:spLocks/>
          </p:cNvSpPr>
          <p:nvPr/>
        </p:nvSpPr>
        <p:spPr>
          <a:xfrm>
            <a:off x="777240" y="3061350"/>
            <a:ext cx="607645" cy="432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2800" b="1" i="0" u="none" strike="noStrike" cap="none" spc="0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sr-Cyrl-RS" sz="2000">
                <a:solidFill>
                  <a:srgbClr val="927C71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5" name="Title 9">
            <a:extLst>
              <a:ext uri="{FF2B5EF4-FFF2-40B4-BE49-F238E27FC236}">
                <a16:creationId xmlns:a16="http://schemas.microsoft.com/office/drawing/2014/main" id="{F442B156-B7BD-48C5-441D-FAEC1FB2B3BB}"/>
              </a:ext>
            </a:extLst>
          </p:cNvPr>
          <p:cNvSpPr txBox="1">
            <a:spLocks/>
          </p:cNvSpPr>
          <p:nvPr/>
        </p:nvSpPr>
        <p:spPr>
          <a:xfrm>
            <a:off x="3423140" y="1209342"/>
            <a:ext cx="607645" cy="432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2800" b="1" i="0" u="none" strike="noStrike" cap="none" spc="0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sr-Cyrl-RS" sz="2000">
                <a:solidFill>
                  <a:srgbClr val="927C71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6" name="Subtitle 11">
            <a:extLst>
              <a:ext uri="{FF2B5EF4-FFF2-40B4-BE49-F238E27FC236}">
                <a16:creationId xmlns:a16="http://schemas.microsoft.com/office/drawing/2014/main" id="{AA62CBBC-89B1-904E-633E-2DADBC13ACE0}"/>
              </a:ext>
            </a:extLst>
          </p:cNvPr>
          <p:cNvSpPr txBox="1">
            <a:spLocks/>
          </p:cNvSpPr>
          <p:nvPr/>
        </p:nvSpPr>
        <p:spPr>
          <a:xfrm>
            <a:off x="6061653" y="2082150"/>
            <a:ext cx="2246925" cy="530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None/>
              <a:defRPr sz="1400" b="0" i="0" u="none" strike="noStrike" cap="none" spc="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None/>
              <a:defRPr sz="1400" b="0" i="0" u="none" strike="noStrike" cap="none" spc="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None/>
              <a:defRPr sz="1400" b="0" i="0" u="none" strike="noStrike" cap="none" spc="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None/>
              <a:defRPr sz="1400" b="0" i="0" u="none" strike="noStrike" cap="none" spc="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None/>
              <a:defRPr sz="1400" b="0" i="0" u="none" strike="noStrike" cap="none" spc="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None/>
              <a:defRPr sz="1400" b="0" i="0" u="none" strike="noStrike" cap="none" spc="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None/>
              <a:defRPr sz="1400" b="0" i="0" u="none" strike="noStrike" cap="none" spc="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None/>
              <a:defRPr sz="1400" b="0" i="0" u="none" strike="noStrike" cap="none" spc="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Mulish"/>
              <a:buNone/>
              <a:defRPr sz="1400" b="0" i="0" u="none" strike="noStrike" cap="none" spc="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9pPr>
          </a:lstStyle>
          <a:p>
            <a:pPr marL="0" indent="0"/>
            <a:r>
              <a:rPr lang="sr-Cyrl-RS" sz="1000">
                <a:solidFill>
                  <a:srgbClr val="8C8C8C"/>
                </a:solidFill>
                <a:latin typeface="Calibri"/>
                <a:ea typeface="Calibri"/>
                <a:cs typeface="Calibri"/>
              </a:rPr>
              <a:t>LangGraph, LangMem SDK и архитектура система</a:t>
            </a:r>
          </a:p>
        </p:txBody>
      </p:sp>
      <p:sp>
        <p:nvSpPr>
          <p:cNvPr id="67" name="Title 12">
            <a:extLst>
              <a:ext uri="{FF2B5EF4-FFF2-40B4-BE49-F238E27FC236}">
                <a16:creationId xmlns:a16="http://schemas.microsoft.com/office/drawing/2014/main" id="{08CFA941-AD04-4092-EC26-33C7817E7A9B}"/>
              </a:ext>
            </a:extLst>
          </p:cNvPr>
          <p:cNvSpPr txBox="1">
            <a:spLocks/>
          </p:cNvSpPr>
          <p:nvPr/>
        </p:nvSpPr>
        <p:spPr>
          <a:xfrm>
            <a:off x="6061653" y="3061350"/>
            <a:ext cx="607645" cy="432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2800" b="1" i="0" u="none" strike="noStrike" cap="none" spc="0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sr-Cyrl-RS" sz="2000">
                <a:solidFill>
                  <a:srgbClr val="927C71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8" name="Title 13">
            <a:extLst>
              <a:ext uri="{FF2B5EF4-FFF2-40B4-BE49-F238E27FC236}">
                <a16:creationId xmlns:a16="http://schemas.microsoft.com/office/drawing/2014/main" id="{88AA4B79-B94F-C0E2-D8E3-B69D9B05BC10}"/>
              </a:ext>
            </a:extLst>
          </p:cNvPr>
          <p:cNvSpPr txBox="1">
            <a:spLocks/>
          </p:cNvSpPr>
          <p:nvPr/>
        </p:nvSpPr>
        <p:spPr>
          <a:xfrm>
            <a:off x="6061653" y="1209342"/>
            <a:ext cx="607645" cy="432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2800" b="1" i="0" u="none" strike="noStrike" cap="none" spc="0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sr-Cyrl-RS" sz="2000">
                <a:solidFill>
                  <a:srgbClr val="927C71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9" name="Subtitle 14">
            <a:extLst>
              <a:ext uri="{FF2B5EF4-FFF2-40B4-BE49-F238E27FC236}">
                <a16:creationId xmlns:a16="http://schemas.microsoft.com/office/drawing/2014/main" id="{3AB80A89-252B-0AEC-FDA4-8DAE2EF35CF3}"/>
              </a:ext>
            </a:extLst>
          </p:cNvPr>
          <p:cNvSpPr txBox="1">
            <a:spLocks/>
          </p:cNvSpPr>
          <p:nvPr/>
        </p:nvSpPr>
        <p:spPr>
          <a:xfrm>
            <a:off x="878840" y="1660974"/>
            <a:ext cx="2244147" cy="432946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sr-Cyrl-RS" sz="1250">
                <a:solidFill>
                  <a:srgbClr val="5C5C5F"/>
                </a:solidFill>
                <a:latin typeface="Arial"/>
                <a:ea typeface="Arial"/>
                <a:cs typeface="Arial"/>
              </a:rPr>
              <a:t>УВОД</a:t>
            </a:r>
          </a:p>
        </p:txBody>
      </p:sp>
      <p:sp>
        <p:nvSpPr>
          <p:cNvPr id="70" name="Subtitle 15">
            <a:extLst>
              <a:ext uri="{FF2B5EF4-FFF2-40B4-BE49-F238E27FC236}">
                <a16:creationId xmlns:a16="http://schemas.microsoft.com/office/drawing/2014/main" id="{24DDF408-A9C4-B9E6-CE0C-F83530BA62F4}"/>
              </a:ext>
            </a:extLst>
          </p:cNvPr>
          <p:cNvSpPr txBox="1">
            <a:spLocks/>
          </p:cNvSpPr>
          <p:nvPr/>
        </p:nvSpPr>
        <p:spPr>
          <a:xfrm>
            <a:off x="878840" y="3513881"/>
            <a:ext cx="2244147" cy="422588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sr-Cyrl-RS" sz="1250">
                <a:solidFill>
                  <a:srgbClr val="5C5C5F"/>
                </a:solidFill>
                <a:latin typeface="Arial"/>
                <a:ea typeface="Arial"/>
                <a:cs typeface="Arial"/>
              </a:rPr>
              <a:t>АПЛИКАЦИЈА</a:t>
            </a:r>
          </a:p>
        </p:txBody>
      </p:sp>
      <p:sp>
        <p:nvSpPr>
          <p:cNvPr id="71" name="Subtitle 16">
            <a:extLst>
              <a:ext uri="{FF2B5EF4-FFF2-40B4-BE49-F238E27FC236}">
                <a16:creationId xmlns:a16="http://schemas.microsoft.com/office/drawing/2014/main" id="{D240C407-683A-ACED-E719-C4049E9FF309}"/>
              </a:ext>
            </a:extLst>
          </p:cNvPr>
          <p:cNvSpPr txBox="1">
            <a:spLocks/>
          </p:cNvSpPr>
          <p:nvPr/>
        </p:nvSpPr>
        <p:spPr>
          <a:xfrm>
            <a:off x="3524740" y="3513870"/>
            <a:ext cx="2244147" cy="422588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sr-Cyrl-RS" sz="1250">
                <a:solidFill>
                  <a:srgbClr val="5C5C5F"/>
                </a:solidFill>
                <a:latin typeface="Arial"/>
                <a:ea typeface="Arial"/>
                <a:cs typeface="Arial"/>
              </a:rPr>
              <a:t>ЕВАЛУАЦИЈА</a:t>
            </a:r>
          </a:p>
        </p:txBody>
      </p:sp>
      <p:sp>
        <p:nvSpPr>
          <p:cNvPr id="72" name="Subtitle 17">
            <a:extLst>
              <a:ext uri="{FF2B5EF4-FFF2-40B4-BE49-F238E27FC236}">
                <a16:creationId xmlns:a16="http://schemas.microsoft.com/office/drawing/2014/main" id="{8C3CF96E-1252-DA68-0D73-4E2D1A718DC6}"/>
              </a:ext>
            </a:extLst>
          </p:cNvPr>
          <p:cNvSpPr txBox="1">
            <a:spLocks/>
          </p:cNvSpPr>
          <p:nvPr/>
        </p:nvSpPr>
        <p:spPr>
          <a:xfrm>
            <a:off x="3524740" y="1660974"/>
            <a:ext cx="2244147" cy="432946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sr-Cyrl-RS" sz="1250">
                <a:solidFill>
                  <a:srgbClr val="5C5C5F"/>
                </a:solidFill>
                <a:latin typeface="Arial"/>
                <a:ea typeface="Arial"/>
                <a:cs typeface="Arial"/>
              </a:rPr>
              <a:t>ТЕОРИЈСКЕ ОСНОВЕ</a:t>
            </a:r>
          </a:p>
        </p:txBody>
      </p:sp>
      <p:sp>
        <p:nvSpPr>
          <p:cNvPr id="73" name="Subtitle 18">
            <a:extLst>
              <a:ext uri="{FF2B5EF4-FFF2-40B4-BE49-F238E27FC236}">
                <a16:creationId xmlns:a16="http://schemas.microsoft.com/office/drawing/2014/main" id="{1BF260D4-681A-A38A-627A-CA2F1C2EB44B}"/>
              </a:ext>
            </a:extLst>
          </p:cNvPr>
          <p:cNvSpPr txBox="1">
            <a:spLocks/>
          </p:cNvSpPr>
          <p:nvPr/>
        </p:nvSpPr>
        <p:spPr>
          <a:xfrm>
            <a:off x="6163253" y="3513870"/>
            <a:ext cx="2244147" cy="422588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sr-Cyrl-RS" sz="1250">
                <a:solidFill>
                  <a:srgbClr val="5C5C5F"/>
                </a:solidFill>
                <a:latin typeface="Arial"/>
                <a:ea typeface="Arial"/>
                <a:cs typeface="Arial"/>
              </a:rPr>
              <a:t>ЗАКЉУЧАК</a:t>
            </a:r>
          </a:p>
        </p:txBody>
      </p:sp>
      <p:sp>
        <p:nvSpPr>
          <p:cNvPr id="74" name="Subtitle 19">
            <a:extLst>
              <a:ext uri="{FF2B5EF4-FFF2-40B4-BE49-F238E27FC236}">
                <a16:creationId xmlns:a16="http://schemas.microsoft.com/office/drawing/2014/main" id="{8A5E174A-8FF9-9FF1-B0D2-E6F856F30740}"/>
              </a:ext>
            </a:extLst>
          </p:cNvPr>
          <p:cNvSpPr txBox="1">
            <a:spLocks/>
          </p:cNvSpPr>
          <p:nvPr/>
        </p:nvSpPr>
        <p:spPr>
          <a:xfrm>
            <a:off x="6163253" y="1660974"/>
            <a:ext cx="2244147" cy="432946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 spc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sr-Cyrl-RS" sz="1250">
                <a:solidFill>
                  <a:srgbClr val="5C5C5F"/>
                </a:solidFill>
                <a:latin typeface="Arial"/>
                <a:ea typeface="Arial"/>
                <a:cs typeface="Arial"/>
              </a:rPr>
              <a:t>ИМПЛЕМЕНТАЦИЈА</a:t>
            </a:r>
          </a:p>
        </p:txBody>
      </p:sp>
      <p:sp>
        <p:nvSpPr>
          <p:cNvPr id="75" name="Subtitle 3">
            <a:extLst>
              <a:ext uri="{FF2B5EF4-FFF2-40B4-BE49-F238E27FC236}">
                <a16:creationId xmlns:a16="http://schemas.microsoft.com/office/drawing/2014/main" id="{B5FEC9E1-F342-521C-069F-7CAEE97C16D1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777240" y="3942501"/>
            <a:ext cx="2426100" cy="538200"/>
          </a:xfrm>
        </p:spPr>
        <p:txBody>
          <a:bodyPr/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sr-Cyrl-RS" sz="1000">
                <a:solidFill>
                  <a:srgbClr val="8C8C8C"/>
                </a:solidFill>
                <a:latin typeface="Calibri"/>
                <a:ea typeface="Calibri"/>
                <a:cs typeface="Calibri"/>
              </a:rPr>
              <a:t>Претрага градова и меморија у пракси</a:t>
            </a:r>
          </a:p>
        </p:txBody>
      </p:sp>
      <p:sp>
        <p:nvSpPr>
          <p:cNvPr id="76" name="Subtitle 4">
            <a:extLst>
              <a:ext uri="{FF2B5EF4-FFF2-40B4-BE49-F238E27FC236}">
                <a16:creationId xmlns:a16="http://schemas.microsoft.com/office/drawing/2014/main" id="{A5215D96-3D1E-110B-4B11-65042D9CB812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3423140" y="3942498"/>
            <a:ext cx="2426100" cy="538200"/>
          </a:xfrm>
        </p:spPr>
        <p:txBody>
          <a:bodyPr/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sr-Cyrl-RS" sz="1000">
                <a:solidFill>
                  <a:srgbClr val="8C8C8C"/>
                </a:solidFill>
                <a:latin typeface="Calibri"/>
                <a:ea typeface="Calibri"/>
                <a:cs typeface="Calibri"/>
              </a:rPr>
              <a:t>Методологија, почетни и финални резултати</a:t>
            </a:r>
          </a:p>
        </p:txBody>
      </p:sp>
      <p:sp>
        <p:nvSpPr>
          <p:cNvPr id="77" name="Subtitle 10">
            <a:extLst>
              <a:ext uri="{FF2B5EF4-FFF2-40B4-BE49-F238E27FC236}">
                <a16:creationId xmlns:a16="http://schemas.microsoft.com/office/drawing/2014/main" id="{3507D960-825D-C64E-F1E0-0628E2EDCF7A}"/>
              </a:ext>
            </a:extLst>
          </p:cNvPr>
          <p:cNvSpPr txBox="1">
            <a:spLocks/>
          </p:cNvSpPr>
          <p:nvPr/>
        </p:nvSpPr>
        <p:spPr>
          <a:xfrm>
            <a:off x="6061653" y="3942498"/>
            <a:ext cx="2426100" cy="5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None/>
              <a:defRPr sz="1400" b="0" i="0" u="none" strike="noStrike" cap="none" spc="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None/>
              <a:defRPr sz="1400" b="0" i="0" u="none" strike="noStrike" cap="none" spc="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None/>
              <a:defRPr sz="1400" b="0" i="0" u="none" strike="noStrike" cap="none" spc="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None/>
              <a:defRPr sz="1400" b="0" i="0" u="none" strike="noStrike" cap="none" spc="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None/>
              <a:defRPr sz="1400" b="0" i="0" u="none" strike="noStrike" cap="none" spc="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None/>
              <a:defRPr sz="1400" b="0" i="0" u="none" strike="noStrike" cap="none" spc="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None/>
              <a:defRPr sz="1400" b="0" i="0" u="none" strike="noStrike" cap="none" spc="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None/>
              <a:defRPr sz="1400" b="0" i="0" u="none" strike="noStrike" cap="none" spc="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Mulish"/>
              <a:buNone/>
              <a:defRPr sz="1400" b="0" i="0" u="none" strike="noStrike" cap="none" spc="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9pPr>
          </a:lstStyle>
          <a:p>
            <a:pPr marL="0" indent="0"/>
            <a:r>
              <a:rPr lang="sr-Cyrl-RS" sz="1000">
                <a:solidFill>
                  <a:srgbClr val="8C8C8C"/>
                </a:solidFill>
                <a:latin typeface="Calibri"/>
                <a:ea typeface="Calibri"/>
                <a:cs typeface="Calibri"/>
              </a:rPr>
              <a:t>Кључни налази</a:t>
            </a:r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635875"/>
            <a:ext cx="7772400" cy="572700"/>
          </a:xfrm>
        </p:spPr>
        <p:txBody>
          <a:bodyPr/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sr-Cyrl-RS" sz="2600" b="1">
                <a:solidFill>
                  <a:srgbClr val="5C5C5F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Увод и мотивација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91389"/>
            <a:ext cx="7772400" cy="224061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210000" indent="-210000">
              <a:spcBef>
                <a:spcPts val="120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ru-RU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Агент заснован на великом језичком моделу добија меморију која чува и поново користи претходне интеракције, уместо да сваки разговор почиње </a:t>
            </a: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од</a:t>
            </a:r>
            <a:r>
              <a:rPr lang="ru-RU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 нуле.</a:t>
            </a:r>
            <a:endParaRPr lang="en-US">
              <a:solidFill>
                <a:srgbClr val="5C5C5F"/>
              </a:solidFill>
              <a:latin typeface="Calibri"/>
              <a:ea typeface="Calibri"/>
              <a:cs typeface="Calibri"/>
            </a:endParaRPr>
          </a:p>
          <a:p>
            <a:pPr marL="210000" indent="-210000">
              <a:spcBef>
                <a:spcPts val="120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ru-RU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Контекстни прозор модела је ограничен, а његов садржај нестаје када се сесија заврши - агент нема начина да сачува ни искористи знање из претходних разговора.</a:t>
            </a:r>
            <a:endParaRPr lang="en-US">
              <a:solidFill>
                <a:srgbClr val="5C5C5F"/>
              </a:solidFill>
              <a:latin typeface="Calibri"/>
              <a:ea typeface="Calibri"/>
              <a:cs typeface="Calibri"/>
            </a:endParaRPr>
          </a:p>
          <a:p>
            <a:pPr marL="210000" indent="-210000">
              <a:spcBef>
                <a:spcPts val="120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ru-RU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Корисник мора изнова да наводи исте преференце и детаље у свакој новој сесији, што успорава и отежава интеракцију.</a:t>
            </a:r>
            <a:endParaRPr lang="en-US">
              <a:solidFill>
                <a:srgbClr val="5C5C5F"/>
              </a:solidFill>
              <a:latin typeface="Calibri"/>
              <a:ea typeface="Calibri"/>
              <a:cs typeface="Calibri"/>
            </a:endParaRPr>
          </a:p>
          <a:p>
            <a:pPr marL="210000" indent="-210000">
              <a:spcBef>
                <a:spcPts val="120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ru-RU" b="1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Циљ</a:t>
            </a:r>
            <a:r>
              <a:rPr lang="ru-RU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: имплементирати и евалуирати дугорочну меморију агента помоћу LangMem SDK-а и обезбедити да сачувано знање буде доступно кроз нове сесије.</a:t>
            </a:r>
            <a:endParaRPr lang="sr-Cyrl-RS">
              <a:solidFill>
                <a:srgbClr val="5C5C5F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35451358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635875"/>
            <a:ext cx="7772400" cy="572700"/>
          </a:xfrm>
        </p:spPr>
        <p:txBody>
          <a:bodyPr/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>
                <a:latin typeface="Arial" panose="020B0604020202020204" pitchFamily="34" charset="0"/>
                <a:cs typeface="Arial" panose="020B0604020202020204" pitchFamily="34" charset="0"/>
              </a:rPr>
              <a:t>А</a:t>
            </a:r>
            <a:r>
              <a:rPr lang="sr-Cyrl-RS" sz="2600">
                <a:latin typeface="Arial" panose="020B0604020202020204" pitchFamily="34" charset="0"/>
                <a:cs typeface="Arial" panose="020B0604020202020204" pitchFamily="34" charset="0"/>
              </a:rPr>
              <a:t>гентски</a:t>
            </a:r>
            <a:r>
              <a:rPr lang="ru-RU" sz="2600">
                <a:latin typeface="Arial" panose="020B0604020202020204" pitchFamily="34" charset="0"/>
                <a:cs typeface="Arial" panose="020B0604020202020204" pitchFamily="34" charset="0"/>
              </a:rPr>
              <a:t> системи базирани на ЛЛМ-овима</a:t>
            </a:r>
            <a:endParaRPr lang="sr-Cyrl-RS" sz="2600" b="1">
              <a:solidFill>
                <a:srgbClr val="5C5C5F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77240" y="1870789"/>
            <a:ext cx="7772400" cy="144039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210000" indent="-210000">
              <a:spcBef>
                <a:spcPts val="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Проблем са великим језичким моделом када је потребан свеобухватнији одговор на постављени захтев корисника</a:t>
            </a:r>
          </a:p>
          <a:p>
            <a:pPr marL="210000" indent="-210000">
              <a:spcBef>
                <a:spcPts val="120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Велики језички модел је централно језгро система: резонује о задатку, прави план и по потреби позива спољашње алатке</a:t>
            </a:r>
          </a:p>
          <a:p>
            <a:pPr marL="210000" indent="-210000">
              <a:spcBef>
                <a:spcPts val="120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Захтев корисника је задатак који се разлаже на низ повезаних корака, а не једнократан упит</a:t>
            </a:r>
          </a:p>
        </p:txBody>
      </p:sp>
    </p:spTree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fig_2_2_agent_compon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1008" y="1124313"/>
            <a:ext cx="3721982" cy="289487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1205EC0-6C68-234F-4AF6-1AE5F8131539}"/>
              </a:ext>
            </a:extLst>
          </p:cNvPr>
          <p:cNvSpPr txBox="1">
            <a:spLocks/>
          </p:cNvSpPr>
          <p:nvPr/>
        </p:nvSpPr>
        <p:spPr>
          <a:xfrm>
            <a:off x="777240" y="635875"/>
            <a:ext cx="7354824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sr-Cyrl-RS" sz="2600">
                <a:latin typeface="Arial" panose="020B0604020202020204" pitchFamily="34" charset="0"/>
                <a:cs typeface="Arial" panose="020B0604020202020204" pitchFamily="34" charset="0"/>
              </a:rPr>
              <a:t>Компоненте агената</a:t>
            </a:r>
            <a:endParaRPr lang="sr-Cyrl-RS" sz="2600">
              <a:solidFill>
                <a:srgbClr val="5C5C5F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F575CA-8C54-CA4D-A798-4C83D3E70977}"/>
              </a:ext>
            </a:extLst>
          </p:cNvPr>
          <p:cNvSpPr/>
          <p:nvPr/>
        </p:nvSpPr>
        <p:spPr>
          <a:xfrm>
            <a:off x="777240" y="4114732"/>
            <a:ext cx="7553960" cy="548640"/>
          </a:xfrm>
          <a:prstGeom prst="rect">
            <a:avLst/>
          </a:prstGeom>
          <a:solidFill>
            <a:srgbClr val="F6F1ED"/>
          </a:solidFill>
          <a:ln>
            <a:noFill/>
          </a:ln>
        </p:spPr>
        <p:txBody>
          <a:bodyPr wrap="square" lIns="128016" rIns="128016" rtlCol="0" anchor="ctr"/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r-Cyrl-RS" sz="1400" b="1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Меморија је централна тема овог рада.</a:t>
            </a:r>
          </a:p>
        </p:txBody>
      </p: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>
            <a:spLocks/>
          </p:cNvSpPr>
          <p:nvPr/>
        </p:nvSpPr>
        <p:spPr>
          <a:xfrm>
            <a:off x="790956" y="1390078"/>
            <a:ext cx="7562088" cy="501676"/>
          </a:xfrm>
          <a:custGeom>
            <a:avLst/>
            <a:gdLst>
              <a:gd name="connsiteX0" fmla="*/ 0 w 7772400"/>
              <a:gd name="connsiteY0" fmla="*/ 0 h 2926080"/>
              <a:gd name="connsiteX1" fmla="*/ 7772400 w 7772400"/>
              <a:gd name="connsiteY1" fmla="*/ 0 h 2926080"/>
              <a:gd name="connsiteX2" fmla="*/ 7772400 w 7772400"/>
              <a:gd name="connsiteY2" fmla="*/ 2926080 h 2926080"/>
              <a:gd name="connsiteX3" fmla="*/ 0 w 7772400"/>
              <a:gd name="connsiteY3" fmla="*/ 2926080 h 2926080"/>
              <a:gd name="connsiteX4" fmla="*/ 0 w 7772400"/>
              <a:gd name="connsiteY4" fmla="*/ 0 h 2926080"/>
              <a:gd name="connsiteX0" fmla="*/ 0 w 7772400"/>
              <a:gd name="connsiteY0" fmla="*/ 0 h 2926080"/>
              <a:gd name="connsiteX1" fmla="*/ 7772400 w 7772400"/>
              <a:gd name="connsiteY1" fmla="*/ 0 h 2926080"/>
              <a:gd name="connsiteX2" fmla="*/ 7735824 w 7772400"/>
              <a:gd name="connsiteY2" fmla="*/ 1914144 h 2926080"/>
              <a:gd name="connsiteX3" fmla="*/ 0 w 7772400"/>
              <a:gd name="connsiteY3" fmla="*/ 2926080 h 2926080"/>
              <a:gd name="connsiteX4" fmla="*/ 0 w 7772400"/>
              <a:gd name="connsiteY4" fmla="*/ 0 h 2926080"/>
              <a:gd name="connsiteX0" fmla="*/ 0 w 7772400"/>
              <a:gd name="connsiteY0" fmla="*/ 0 h 1914144"/>
              <a:gd name="connsiteX1" fmla="*/ 7772400 w 7772400"/>
              <a:gd name="connsiteY1" fmla="*/ 0 h 1914144"/>
              <a:gd name="connsiteX2" fmla="*/ 7735824 w 7772400"/>
              <a:gd name="connsiteY2" fmla="*/ 1914144 h 1914144"/>
              <a:gd name="connsiteX3" fmla="*/ 24384 w 7772400"/>
              <a:gd name="connsiteY3" fmla="*/ 1828800 h 1914144"/>
              <a:gd name="connsiteX4" fmla="*/ 0 w 7772400"/>
              <a:gd name="connsiteY4" fmla="*/ 0 h 1914144"/>
              <a:gd name="connsiteX0" fmla="*/ 0 w 7772400"/>
              <a:gd name="connsiteY0" fmla="*/ 0 h 1865376"/>
              <a:gd name="connsiteX1" fmla="*/ 7772400 w 7772400"/>
              <a:gd name="connsiteY1" fmla="*/ 0 h 1865376"/>
              <a:gd name="connsiteX2" fmla="*/ 7735824 w 7772400"/>
              <a:gd name="connsiteY2" fmla="*/ 1865376 h 1865376"/>
              <a:gd name="connsiteX3" fmla="*/ 24384 w 7772400"/>
              <a:gd name="connsiteY3" fmla="*/ 1828800 h 1865376"/>
              <a:gd name="connsiteX4" fmla="*/ 0 w 7772400"/>
              <a:gd name="connsiteY4" fmla="*/ 0 h 1865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72400" h="1865376">
                <a:moveTo>
                  <a:pt x="0" y="0"/>
                </a:moveTo>
                <a:lnTo>
                  <a:pt x="7772400" y="0"/>
                </a:lnTo>
                <a:lnTo>
                  <a:pt x="7735824" y="1865376"/>
                </a:lnTo>
                <a:lnTo>
                  <a:pt x="24384" y="18288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lIns="45720" tIns="27432" rIns="45720" bIns="27432" anchor="t">
            <a:spAutoFit/>
          </a:bodyPr>
          <a:lstStyle/>
          <a:p>
            <a:pPr marL="210000" indent="-210000">
              <a:spcBef>
                <a:spcPts val="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Контекстни прозор – максимална количина токена, која се може узети у обзир у једном тренутку од стране модела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7D6A084-5AD5-7670-146C-932F95961340}"/>
              </a:ext>
            </a:extLst>
          </p:cNvPr>
          <p:cNvSpPr txBox="1">
            <a:spLocks/>
          </p:cNvSpPr>
          <p:nvPr/>
        </p:nvSpPr>
        <p:spPr>
          <a:xfrm>
            <a:off x="777240" y="635875"/>
            <a:ext cx="7354824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sr-Cyrl-RS" sz="2600" b="1">
                <a:solidFill>
                  <a:srgbClr val="5C5C5F"/>
                </a:solidFill>
                <a:latin typeface="Arial"/>
                <a:ea typeface="Arial"/>
                <a:cs typeface="Arial"/>
              </a:rPr>
              <a:t>Контекст</a:t>
            </a:r>
            <a:r>
              <a:rPr lang="sr-Cyrl-RS" sz="2600">
                <a:solidFill>
                  <a:srgbClr val="5C5C5F"/>
                </a:solidFill>
                <a:latin typeface="Arial"/>
                <a:ea typeface="Arial"/>
                <a:cs typeface="Arial"/>
              </a:rPr>
              <a:t>ни прозор</a:t>
            </a:r>
            <a:endParaRPr lang="sr-Cyrl-RS" sz="2600">
              <a:solidFill>
                <a:srgbClr val="5C5C5F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8A3F7DE-9E82-1E4F-EADB-52A2FA4EF1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445"/>
          <a:stretch/>
        </p:blipFill>
        <p:spPr>
          <a:xfrm>
            <a:off x="2852839" y="1947090"/>
            <a:ext cx="3438322" cy="2609314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AED467C-BDB5-0649-D416-911C38EC0C56}"/>
              </a:ext>
            </a:extLst>
          </p:cNvPr>
          <p:cNvSpPr/>
          <p:nvPr/>
        </p:nvSpPr>
        <p:spPr>
          <a:xfrm>
            <a:off x="833292" y="3867912"/>
            <a:ext cx="7409008" cy="548640"/>
          </a:xfrm>
          <a:prstGeom prst="rect">
            <a:avLst/>
          </a:prstGeom>
          <a:solidFill>
            <a:srgbClr val="F6F1ED"/>
          </a:solidFill>
          <a:ln>
            <a:noFill/>
          </a:ln>
        </p:spPr>
        <p:txBody>
          <a:bodyPr wrap="square" lIns="128016" rIns="128016" rtlCol="0" anchor="ctr"/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r-Cyrl-RS" sz="1400" b="1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Потребна је екстерна, дугорочна меморија.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10C98E0-7D3C-7E02-CBAE-8BF24323BFC8}"/>
              </a:ext>
            </a:extLst>
          </p:cNvPr>
          <p:cNvSpPr txBox="1">
            <a:spLocks/>
          </p:cNvSpPr>
          <p:nvPr/>
        </p:nvSpPr>
        <p:spPr>
          <a:xfrm>
            <a:off x="777240" y="635875"/>
            <a:ext cx="7354824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sr-Cyrl-RS" sz="2600" b="1">
                <a:solidFill>
                  <a:srgbClr val="5C5C5F"/>
                </a:solidFill>
                <a:latin typeface="Arial"/>
                <a:ea typeface="Arial"/>
                <a:cs typeface="Arial"/>
              </a:rPr>
              <a:t>Ограничења контекста</a:t>
            </a:r>
            <a:endParaRPr lang="sr-Cyrl-RS" sz="2600">
              <a:solidFill>
                <a:srgbClr val="5C5C5F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C912A3-43BE-0E3C-7391-465700D0BE30}"/>
              </a:ext>
            </a:extLst>
          </p:cNvPr>
          <p:cNvSpPr txBox="1">
            <a:spLocks/>
          </p:cNvSpPr>
          <p:nvPr/>
        </p:nvSpPr>
        <p:spPr>
          <a:xfrm>
            <a:off x="790956" y="1741102"/>
            <a:ext cx="7562088" cy="1594283"/>
          </a:xfrm>
          <a:custGeom>
            <a:avLst/>
            <a:gdLst>
              <a:gd name="connsiteX0" fmla="*/ 0 w 7772400"/>
              <a:gd name="connsiteY0" fmla="*/ 0 h 2926080"/>
              <a:gd name="connsiteX1" fmla="*/ 7772400 w 7772400"/>
              <a:gd name="connsiteY1" fmla="*/ 0 h 2926080"/>
              <a:gd name="connsiteX2" fmla="*/ 7772400 w 7772400"/>
              <a:gd name="connsiteY2" fmla="*/ 2926080 h 2926080"/>
              <a:gd name="connsiteX3" fmla="*/ 0 w 7772400"/>
              <a:gd name="connsiteY3" fmla="*/ 2926080 h 2926080"/>
              <a:gd name="connsiteX4" fmla="*/ 0 w 7772400"/>
              <a:gd name="connsiteY4" fmla="*/ 0 h 2926080"/>
              <a:gd name="connsiteX0" fmla="*/ 0 w 7772400"/>
              <a:gd name="connsiteY0" fmla="*/ 0 h 2926080"/>
              <a:gd name="connsiteX1" fmla="*/ 7772400 w 7772400"/>
              <a:gd name="connsiteY1" fmla="*/ 0 h 2926080"/>
              <a:gd name="connsiteX2" fmla="*/ 7735824 w 7772400"/>
              <a:gd name="connsiteY2" fmla="*/ 1914144 h 2926080"/>
              <a:gd name="connsiteX3" fmla="*/ 0 w 7772400"/>
              <a:gd name="connsiteY3" fmla="*/ 2926080 h 2926080"/>
              <a:gd name="connsiteX4" fmla="*/ 0 w 7772400"/>
              <a:gd name="connsiteY4" fmla="*/ 0 h 2926080"/>
              <a:gd name="connsiteX0" fmla="*/ 0 w 7772400"/>
              <a:gd name="connsiteY0" fmla="*/ 0 h 1914144"/>
              <a:gd name="connsiteX1" fmla="*/ 7772400 w 7772400"/>
              <a:gd name="connsiteY1" fmla="*/ 0 h 1914144"/>
              <a:gd name="connsiteX2" fmla="*/ 7735824 w 7772400"/>
              <a:gd name="connsiteY2" fmla="*/ 1914144 h 1914144"/>
              <a:gd name="connsiteX3" fmla="*/ 24384 w 7772400"/>
              <a:gd name="connsiteY3" fmla="*/ 1828800 h 1914144"/>
              <a:gd name="connsiteX4" fmla="*/ 0 w 7772400"/>
              <a:gd name="connsiteY4" fmla="*/ 0 h 1914144"/>
              <a:gd name="connsiteX0" fmla="*/ 0 w 7772400"/>
              <a:gd name="connsiteY0" fmla="*/ 0 h 1865376"/>
              <a:gd name="connsiteX1" fmla="*/ 7772400 w 7772400"/>
              <a:gd name="connsiteY1" fmla="*/ 0 h 1865376"/>
              <a:gd name="connsiteX2" fmla="*/ 7735824 w 7772400"/>
              <a:gd name="connsiteY2" fmla="*/ 1865376 h 1865376"/>
              <a:gd name="connsiteX3" fmla="*/ 24384 w 7772400"/>
              <a:gd name="connsiteY3" fmla="*/ 1828800 h 1865376"/>
              <a:gd name="connsiteX4" fmla="*/ 0 w 7772400"/>
              <a:gd name="connsiteY4" fmla="*/ 0 h 1865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72400" h="1865376">
                <a:moveTo>
                  <a:pt x="0" y="0"/>
                </a:moveTo>
                <a:lnTo>
                  <a:pt x="7772400" y="0"/>
                </a:lnTo>
                <a:lnTo>
                  <a:pt x="7735824" y="1865376"/>
                </a:lnTo>
                <a:lnTo>
                  <a:pt x="24384" y="18288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lIns="45720" tIns="27432" rIns="45720" bIns="27432" anchor="t">
            <a:spAutoFit/>
          </a:bodyPr>
          <a:lstStyle/>
          <a:p>
            <a:pPr marL="210000" indent="-210000">
              <a:spcBef>
                <a:spcPts val="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ru-RU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Self-attention механизам</a:t>
            </a:r>
          </a:p>
          <a:p>
            <a:pPr marL="210000" indent="-210000">
              <a:spcBef>
                <a:spcPts val="120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ru-RU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Ефективни прозор је знатно мањи од декларисаног </a:t>
            </a:r>
          </a:p>
          <a:p>
            <a:pPr marL="210000" indent="-210000">
              <a:spcBef>
                <a:spcPts val="120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ru-RU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„Изгубљен у средини”: информација у средини контекста се најлошије користи </a:t>
            </a:r>
          </a:p>
          <a:p>
            <a:pPr marL="210000" indent="-210000">
              <a:spcBef>
                <a:spcPts val="120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ru-RU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Више контекста може бити горе од никаквог: 56,1% → 52,9% (наспрам 88,3% са тачним документом)</a:t>
            </a:r>
          </a:p>
        </p:txBody>
      </p:sp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7984936"/>
              </p:ext>
            </p:extLst>
          </p:nvPr>
        </p:nvGraphicFramePr>
        <p:xfrm>
          <a:off x="890016" y="1487424"/>
          <a:ext cx="7354824" cy="220446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516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51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516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488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500" b="1">
                          <a:solidFill>
                            <a:srgbClr val="5C5C5F"/>
                          </a:solidFill>
                          <a:latin typeface="Arial"/>
                          <a:ea typeface="Arial"/>
                          <a:cs typeface="Arial"/>
                        </a:rPr>
                        <a:t>Семантичка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6F1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500" b="1">
                          <a:solidFill>
                            <a:srgbClr val="5C5C5F"/>
                          </a:solidFill>
                          <a:latin typeface="Arial"/>
                          <a:ea typeface="Arial"/>
                          <a:cs typeface="Arial"/>
                        </a:rPr>
                        <a:t>Епизодичка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6F1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500" b="1">
                          <a:solidFill>
                            <a:srgbClr val="5C5C5F"/>
                          </a:solidFill>
                          <a:latin typeface="Arial"/>
                          <a:ea typeface="Arial"/>
                          <a:cs typeface="Arial"/>
                        </a:rPr>
                        <a:t>Процедурална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6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9586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30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Чињенице и преференце: шта агент зна о кориснику.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30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Конкретни догађаји: шта се десило и са каквим исходом.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30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Научена правила понашања: како агент ради.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890016" y="3977639"/>
            <a:ext cx="7354824" cy="548640"/>
          </a:xfrm>
          <a:prstGeom prst="rect">
            <a:avLst/>
          </a:prstGeom>
          <a:solidFill>
            <a:srgbClr val="F6F1ED"/>
          </a:solidFill>
          <a:ln>
            <a:noFill/>
          </a:ln>
        </p:spPr>
        <p:txBody>
          <a:bodyPr wrap="square" lIns="128016" rIns="128016" rtlCol="0" anchor="ctr"/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r-Cyrl-RS" sz="1300" b="1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Најспособнији системи комбинују сва три типа.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673964C-5AE6-2807-0549-A097CA220EEB}"/>
              </a:ext>
            </a:extLst>
          </p:cNvPr>
          <p:cNvSpPr txBox="1">
            <a:spLocks/>
          </p:cNvSpPr>
          <p:nvPr/>
        </p:nvSpPr>
        <p:spPr>
          <a:xfrm>
            <a:off x="777240" y="635875"/>
            <a:ext cx="7354824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sr-Cyrl-RS" sz="2600" b="1">
                <a:solidFill>
                  <a:srgbClr val="5C5C5F"/>
                </a:solidFill>
                <a:latin typeface="Arial"/>
                <a:ea typeface="Arial"/>
                <a:cs typeface="Arial"/>
              </a:rPr>
              <a:t>Типови дугорочне меморије</a:t>
            </a:r>
            <a:endParaRPr lang="sr-Cyrl-RS" sz="2600">
              <a:solidFill>
                <a:srgbClr val="5C5C5F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5318433"/>
              </p:ext>
            </p:extLst>
          </p:nvPr>
        </p:nvGraphicFramePr>
        <p:xfrm>
          <a:off x="874776" y="1465347"/>
          <a:ext cx="7159752" cy="280416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76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82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2781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300" b="1">
                          <a:solidFill>
                            <a:srgbClr val="5C5C5F"/>
                          </a:solidFill>
                          <a:latin typeface="Arial"/>
                          <a:ea typeface="Arial"/>
                          <a:cs typeface="Arial"/>
                        </a:rPr>
                        <a:t>Корак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6F1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300" b="1">
                          <a:solidFill>
                            <a:srgbClr val="5C5C5F"/>
                          </a:solidFill>
                          <a:latin typeface="Arial"/>
                          <a:ea typeface="Arial"/>
                          <a:cs typeface="Arial"/>
                        </a:rPr>
                        <a:t>Шта обухвата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6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6276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15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Екстракција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1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ЛЛМ из разговора издваја само трајно вредне чињенице; ризик је издвојити превише или премало детаља.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6276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15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Структура записа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1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Најчешће JSON по пољима; засебни записи чувају историју, обједињен профил чува тренутно стање; зависи од типа меморије.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6276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15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Консолидација и ажурирање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1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Слични записи се спајају; сукоб се решава потпуним преписивањем или ажурирањем појединачних поља.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6276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15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Брисање и одржавање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1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На основу старости записа, учесталости и скорашњости коришћења.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6276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15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Претрага и коришћење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1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Релевантност зависи од сличности, важности и „снаге”; у контекст се враћа само уско издвојен подскуп.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90F9E2EA-8506-B7BC-8500-1689F2E44C1D}"/>
              </a:ext>
            </a:extLst>
          </p:cNvPr>
          <p:cNvSpPr txBox="1">
            <a:spLocks/>
          </p:cNvSpPr>
          <p:nvPr/>
        </p:nvSpPr>
        <p:spPr>
          <a:xfrm>
            <a:off x="777240" y="635875"/>
            <a:ext cx="7354824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sr-Cyrl-RS" sz="2600" b="1">
                <a:solidFill>
                  <a:srgbClr val="5C5C5F"/>
                </a:solidFill>
                <a:latin typeface="Arial"/>
                <a:ea typeface="Arial"/>
                <a:cs typeface="Arial"/>
              </a:rPr>
              <a:t>Управљање дугорочном меморијом</a:t>
            </a:r>
            <a:endParaRPr lang="sr-Cyrl-RS" sz="2600">
              <a:solidFill>
                <a:srgbClr val="5C5C5F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77240" y="1736097"/>
            <a:ext cx="7589520" cy="27715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210000" indent="-210000">
              <a:spcBef>
                <a:spcPts val="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sr-Cyrl-RS" b="1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Три обрасца</a:t>
            </a: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: </a:t>
            </a:r>
          </a:p>
          <a:p>
            <a:pPr marL="548640" lvl="8" indent="-285750">
              <a:buClr>
                <a:srgbClr val="927C71"/>
              </a:buClr>
              <a:buFont typeface="Courier New" panose="02070309020205020404" pitchFamily="49" charset="0"/>
              <a:buChar char="o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све у промпту</a:t>
            </a:r>
            <a:endParaRPr lang="en-US">
              <a:solidFill>
                <a:srgbClr val="5C5C5F"/>
              </a:solidFill>
              <a:latin typeface="Calibri"/>
              <a:ea typeface="Calibri"/>
              <a:cs typeface="Calibri"/>
            </a:endParaRPr>
          </a:p>
          <a:p>
            <a:pPr marL="548640" lvl="8" indent="-285750">
              <a:buClr>
                <a:srgbClr val="927C71"/>
              </a:buClr>
              <a:buFont typeface="Courier New" panose="02070309020205020404" pitchFamily="49" charset="0"/>
              <a:buChar char="o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контекст + екстерно складиште (најчешће у продукцији) </a:t>
            </a:r>
            <a:endParaRPr lang="en-US">
              <a:solidFill>
                <a:srgbClr val="5C5C5F"/>
              </a:solidFill>
              <a:latin typeface="Calibri"/>
              <a:ea typeface="Calibri"/>
              <a:cs typeface="Calibri"/>
            </a:endParaRPr>
          </a:p>
          <a:p>
            <a:pPr marL="548640" lvl="8" indent="-285750">
              <a:buClr>
                <a:srgbClr val="927C71"/>
              </a:buClr>
              <a:buFont typeface="Courier New" panose="02070309020205020404" pitchFamily="49" charset="0"/>
              <a:buChar char="o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вишеслојна меморија којом агент сам управља</a:t>
            </a:r>
          </a:p>
          <a:p>
            <a:pPr marL="210000" indent="-210000">
              <a:spcBef>
                <a:spcPts val="90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sr-Cyrl-RS" b="1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Складишта</a:t>
            </a: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: </a:t>
            </a:r>
            <a:endParaRPr lang="en-US">
              <a:solidFill>
                <a:srgbClr val="5C5C5F"/>
              </a:solidFill>
              <a:latin typeface="Calibri"/>
              <a:ea typeface="Calibri"/>
              <a:cs typeface="Calibri"/>
            </a:endParaRPr>
          </a:p>
          <a:p>
            <a:pPr marL="548640" lvl="7" indent="-285750">
              <a:buClr>
                <a:srgbClr val="927C71"/>
              </a:buClr>
              <a:buFont typeface="Courier New" panose="02070309020205020404" pitchFamily="49" charset="0"/>
              <a:buChar char="o"/>
              <a:tabLst>
                <a:tab pos="1828800" algn="l"/>
              </a:tabLst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векторска (сличност)</a:t>
            </a:r>
            <a:endParaRPr lang="en-US">
              <a:solidFill>
                <a:srgbClr val="5C5C5F"/>
              </a:solidFill>
              <a:latin typeface="Calibri"/>
              <a:ea typeface="Calibri"/>
              <a:cs typeface="Calibri"/>
            </a:endParaRPr>
          </a:p>
          <a:p>
            <a:pPr marL="548640" lvl="7" indent="-285750">
              <a:buClr>
                <a:srgbClr val="927C71"/>
              </a:buClr>
              <a:buFont typeface="Courier New" panose="02070309020205020404" pitchFamily="49" charset="0"/>
              <a:buChar char="o"/>
              <a:tabLst>
                <a:tab pos="1828800" algn="l"/>
              </a:tabLst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структурирана</a:t>
            </a:r>
            <a:endParaRPr lang="en-US">
              <a:solidFill>
                <a:srgbClr val="5C5C5F"/>
              </a:solidFill>
              <a:latin typeface="Calibri"/>
              <a:ea typeface="Calibri"/>
              <a:cs typeface="Calibri"/>
            </a:endParaRPr>
          </a:p>
          <a:p>
            <a:pPr marL="548640" lvl="7" indent="-285750">
              <a:buClr>
                <a:srgbClr val="927C71"/>
              </a:buClr>
              <a:buFont typeface="Courier New" panose="02070309020205020404" pitchFamily="49" charset="0"/>
              <a:buChar char="o"/>
              <a:tabLst>
                <a:tab pos="1828800" algn="l"/>
              </a:tabLst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извршни репозиторијуми</a:t>
            </a:r>
            <a:endParaRPr lang="en-US">
              <a:solidFill>
                <a:srgbClr val="5C5C5F"/>
              </a:solidFill>
              <a:latin typeface="Calibri"/>
              <a:ea typeface="Calibri"/>
              <a:cs typeface="Calibri"/>
            </a:endParaRPr>
          </a:p>
          <a:p>
            <a:pPr marL="548640" lvl="7" indent="-285750">
              <a:buClr>
                <a:srgbClr val="927C71"/>
              </a:buClr>
              <a:buFont typeface="Courier New" panose="02070309020205020404" pitchFamily="49" charset="0"/>
              <a:buChar char="o"/>
              <a:tabLst>
                <a:tab pos="1828800" algn="l"/>
              </a:tabLst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најчешће хибридна</a:t>
            </a:r>
          </a:p>
          <a:p>
            <a:pPr marL="210000" indent="-210000">
              <a:spcBef>
                <a:spcPts val="90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sr-Cyrl-RS" b="1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Индексирање</a:t>
            </a: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 кроз гранулацију или хијерархију</a:t>
            </a:r>
          </a:p>
          <a:p>
            <a:pPr marL="210000" indent="-210000">
              <a:spcBef>
                <a:spcPts val="90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sr-Cyrl-RS" b="1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Интеграција</a:t>
            </a: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 кроз пут писања и пут читања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3626749-0AA0-5505-7519-376BCC2D3795}"/>
              </a:ext>
            </a:extLst>
          </p:cNvPr>
          <p:cNvSpPr txBox="1">
            <a:spLocks/>
          </p:cNvSpPr>
          <p:nvPr/>
        </p:nvSpPr>
        <p:spPr>
          <a:xfrm>
            <a:off x="777240" y="635875"/>
            <a:ext cx="7354824" cy="11002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sr-Cyrl-RS" sz="2600" b="1">
                <a:solidFill>
                  <a:srgbClr val="5C5C5F"/>
                </a:solidFill>
                <a:latin typeface="Arial"/>
                <a:ea typeface="Arial"/>
                <a:cs typeface="Arial"/>
              </a:rPr>
              <a:t>Архитектура система са екстерном меморијом</a:t>
            </a:r>
            <a:endParaRPr lang="sr-Cyrl-RS" sz="2600">
              <a:solidFill>
                <a:srgbClr val="5C5C5F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1220343"/>
            <a:ext cx="3794760" cy="1417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sr-Cyrl-RS" sz="1500" b="1">
                <a:solidFill>
                  <a:srgbClr val="927C71"/>
                </a:solidFill>
                <a:latin typeface="Arial"/>
                <a:ea typeface="Arial"/>
                <a:cs typeface="Arial"/>
              </a:rPr>
              <a:t>LangGraph</a:t>
            </a:r>
          </a:p>
          <a:p>
            <a:pPr marL="0" indent="0">
              <a:spcBef>
                <a:spcPts val="600"/>
              </a:spcBef>
              <a:spcAft>
                <a:spcPts val="0"/>
              </a:spcAft>
              <a:buNone/>
            </a:pPr>
            <a:r>
              <a:rPr lang="sr-Cyrl-RS" sz="1200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Контролна тачка чува једну нит – краткорочна меморија.</a:t>
            </a:r>
          </a:p>
          <a:p>
            <a:pPr marL="0" indent="0">
              <a:spcBef>
                <a:spcPts val="600"/>
              </a:spcBef>
              <a:spcAft>
                <a:spcPts val="0"/>
              </a:spcAft>
              <a:buNone/>
            </a:pPr>
            <a:r>
              <a:rPr lang="sr-Cyrl-RS" sz="1200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Складиште преживљава нити и сесије – дугорочна меморија.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17720" y="1190244"/>
            <a:ext cx="3794760" cy="80945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sr-Cyrl-RS" sz="1500" b="1">
                <a:solidFill>
                  <a:srgbClr val="927C71"/>
                </a:solidFill>
                <a:latin typeface="Arial"/>
                <a:ea typeface="Arial"/>
                <a:cs typeface="Arial"/>
              </a:rPr>
              <a:t>LangMem SDK</a:t>
            </a:r>
          </a:p>
          <a:p>
            <a:pPr marL="0" indent="0">
              <a:spcBef>
                <a:spcPts val="600"/>
              </a:spcBef>
              <a:spcAft>
                <a:spcPts val="0"/>
              </a:spcAft>
              <a:buNone/>
            </a:pPr>
            <a:r>
              <a:rPr lang="sr-Cyrl-RS" sz="1200" i="1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Hot-path</a:t>
            </a:r>
            <a:r>
              <a:rPr lang="sr-Cyrl-RS" sz="1200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: агент сам позива алатку за упис.</a:t>
            </a:r>
          </a:p>
          <a:p>
            <a:pPr marL="0" indent="0">
              <a:spcBef>
                <a:spcPts val="600"/>
              </a:spcBef>
              <a:spcAft>
                <a:spcPts val="0"/>
              </a:spcAft>
              <a:buNone/>
            </a:pPr>
            <a:r>
              <a:rPr lang="sr-Cyrl-RS" sz="1200" i="1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Background</a:t>
            </a:r>
            <a:r>
              <a:rPr lang="sr-Cyrl-RS" sz="1200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: посебан менаџер накнадно издваја знање.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FD6481D-76AA-58B3-6FBC-83DBC301F6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8588" y="2466227"/>
            <a:ext cx="4306824" cy="2041398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7A14A50-FE8F-77D6-8636-821737BF2F15}"/>
              </a:ext>
            </a:extLst>
          </p:cNvPr>
          <p:cNvSpPr txBox="1">
            <a:spLocks/>
          </p:cNvSpPr>
          <p:nvPr/>
        </p:nvSpPr>
        <p:spPr>
          <a:xfrm>
            <a:off x="777240" y="635875"/>
            <a:ext cx="7354824" cy="607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sr-Cyrl-RS" sz="2600" b="1">
                <a:solidFill>
                  <a:srgbClr val="5C5C5F"/>
                </a:solidFill>
                <a:latin typeface="Arial"/>
                <a:ea typeface="Arial"/>
                <a:cs typeface="Arial"/>
              </a:rPr>
              <a:t>LangGraph и LangMem SDK</a:t>
            </a:r>
            <a:endParaRPr lang="sr-Cyrl-RS" sz="2600">
              <a:solidFill>
                <a:srgbClr val="5C5C5F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43915" y="1721189"/>
            <a:ext cx="3977639" cy="278691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210000" indent="-210000">
              <a:spcBef>
                <a:spcPts val="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Корисник шаље поруку агенту.</a:t>
            </a:r>
          </a:p>
          <a:p>
            <a:pPr marL="210000" indent="-210000">
              <a:spcBef>
                <a:spcPts val="90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LangGraph учитава претходно стање нити (краткорочна меморија).</a:t>
            </a:r>
          </a:p>
          <a:p>
            <a:pPr marL="210000" indent="-210000">
              <a:spcBef>
                <a:spcPts val="90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LangMem претражује складиште (дугорочна меморија) и убацује записе у контекст.</a:t>
            </a:r>
          </a:p>
          <a:p>
            <a:pPr marL="210000" indent="-210000">
              <a:spcBef>
                <a:spcPts val="90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Агент генерише и шаље одговор.</a:t>
            </a:r>
          </a:p>
          <a:p>
            <a:pPr marL="210000" indent="-210000">
              <a:spcBef>
                <a:spcPts val="90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Екстракција нове меморије (</a:t>
            </a:r>
            <a:r>
              <a:rPr lang="sr-Cyrl-RS" i="1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hot-path</a:t>
            </a: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 или </a:t>
            </a:r>
            <a:r>
              <a:rPr lang="en-US" i="1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background</a:t>
            </a: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).</a:t>
            </a:r>
          </a:p>
          <a:p>
            <a:pPr marL="210000" indent="-210000">
              <a:spcBef>
                <a:spcPts val="90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Запис постаје доступан свим будућим нитима и сесијама.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B5CE84-9520-D8DE-033E-60D770CB1B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79" y="1628487"/>
            <a:ext cx="3841895" cy="2741489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7A452B50-9E66-6B12-1E12-6620C81EE64A}"/>
              </a:ext>
            </a:extLst>
          </p:cNvPr>
          <p:cNvSpPr txBox="1">
            <a:spLocks/>
          </p:cNvSpPr>
          <p:nvPr/>
        </p:nvSpPr>
        <p:spPr>
          <a:xfrm>
            <a:off x="777240" y="635875"/>
            <a:ext cx="7354824" cy="992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sr-Cyrl-RS" sz="2600" b="1">
                <a:solidFill>
                  <a:srgbClr val="5C5C5F"/>
                </a:solidFill>
                <a:latin typeface="Arial"/>
                <a:ea typeface="Arial"/>
                <a:cs typeface="Arial"/>
              </a:rPr>
              <a:t>Ток извршавања у LangGraph-у и LangMem-у</a:t>
            </a:r>
            <a:endParaRPr lang="sr-Cyrl-RS" sz="2600">
              <a:solidFill>
                <a:srgbClr val="5C5C5F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53059" y="1628487"/>
            <a:ext cx="3886200" cy="250735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sr-Cyrl-RS" sz="1300" b="1">
                <a:solidFill>
                  <a:srgbClr val="927C71"/>
                </a:solidFill>
                <a:latin typeface="Arial"/>
                <a:ea typeface="Arial"/>
                <a:cs typeface="Arial"/>
              </a:rPr>
              <a:t>Агент</a:t>
            </a:r>
          </a:p>
          <a:p>
            <a:pPr marL="0" indent="0">
              <a:spcBef>
                <a:spcPts val="400"/>
              </a:spcBef>
              <a:spcAft>
                <a:spcPts val="0"/>
              </a:spcAft>
              <a:buNone/>
            </a:pPr>
            <a:r>
              <a:rPr lang="sr-Cyrl-RS" sz="1150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Исти build_graph() у апликацији и у евалуацији; прима режим екстракције и стратегију претраге.</a:t>
            </a:r>
          </a:p>
          <a:p>
            <a:pPr marL="0" indent="0">
              <a:spcBef>
                <a:spcPts val="1000"/>
              </a:spcBef>
              <a:spcAft>
                <a:spcPts val="0"/>
              </a:spcAft>
              <a:buNone/>
            </a:pPr>
            <a:r>
              <a:rPr lang="sr-Cyrl-RS" sz="1300" b="1">
                <a:solidFill>
                  <a:srgbClr val="927C71"/>
                </a:solidFill>
                <a:latin typeface="Arial"/>
                <a:ea typeface="Arial"/>
                <a:cs typeface="Arial"/>
              </a:rPr>
              <a:t>Алатке</a:t>
            </a:r>
          </a:p>
          <a:p>
            <a:pPr marL="0" indent="0">
              <a:spcBef>
                <a:spcPts val="400"/>
              </a:spcBef>
              <a:spcAft>
                <a:spcPts val="0"/>
              </a:spcAft>
              <a:buNone/>
            </a:pPr>
            <a:r>
              <a:rPr lang="sr-Cyrl-RS" sz="1150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Претрага градова и тренутна временска прогноза.</a:t>
            </a:r>
          </a:p>
          <a:p>
            <a:pPr marL="0" indent="0">
              <a:spcBef>
                <a:spcPts val="1000"/>
              </a:spcBef>
              <a:spcAft>
                <a:spcPts val="0"/>
              </a:spcAft>
              <a:buNone/>
            </a:pPr>
            <a:r>
              <a:rPr lang="sr-Cyrl-RS" sz="1300" b="1">
                <a:solidFill>
                  <a:srgbClr val="927C71"/>
                </a:solidFill>
                <a:latin typeface="Arial"/>
                <a:ea typeface="Arial"/>
                <a:cs typeface="Arial"/>
              </a:rPr>
              <a:t>Меморија</a:t>
            </a:r>
          </a:p>
          <a:p>
            <a:pPr marL="0" indent="0">
              <a:spcBef>
                <a:spcPts val="400"/>
              </a:spcBef>
              <a:spcAft>
                <a:spcPts val="0"/>
              </a:spcAft>
              <a:buNone/>
            </a:pPr>
            <a:r>
              <a:rPr lang="sr-Cyrl-RS" sz="1150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LangMem (hot-path / background / both) и PostgreSQL 16 / pgvector; background упис планира ReflectionExecutor.</a:t>
            </a:r>
          </a:p>
          <a:p>
            <a:pPr marL="0" indent="0">
              <a:spcBef>
                <a:spcPts val="1000"/>
              </a:spcBef>
              <a:spcAft>
                <a:spcPts val="0"/>
              </a:spcAft>
              <a:buNone/>
            </a:pPr>
            <a:r>
              <a:rPr lang="sr-Cyrl-RS" sz="1300" b="1">
                <a:solidFill>
                  <a:srgbClr val="927C71"/>
                </a:solidFill>
                <a:latin typeface="Arial"/>
                <a:ea typeface="Arial"/>
                <a:cs typeface="Arial"/>
              </a:rPr>
              <a:t>Модел</a:t>
            </a:r>
          </a:p>
          <a:p>
            <a:pPr marL="0" indent="0">
              <a:spcBef>
                <a:spcPts val="400"/>
              </a:spcBef>
              <a:spcAft>
                <a:spcPts val="0"/>
              </a:spcAft>
              <a:buNone/>
            </a:pPr>
            <a:r>
              <a:rPr lang="sr-Cyrl-RS" sz="1150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gpt-4o-mini.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638060-5E21-67D0-6516-AB7F6163020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628487"/>
            <a:ext cx="4207967" cy="273951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2DB29FB4-1FD0-80D8-73F4-2E67C93B1836}"/>
              </a:ext>
            </a:extLst>
          </p:cNvPr>
          <p:cNvSpPr txBox="1">
            <a:spLocks/>
          </p:cNvSpPr>
          <p:nvPr/>
        </p:nvSpPr>
        <p:spPr>
          <a:xfrm>
            <a:off x="777240" y="635875"/>
            <a:ext cx="7354824" cy="664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sr-Cyrl-RS" sz="2600" b="1">
                <a:solidFill>
                  <a:srgbClr val="5C5C5F"/>
                </a:solidFill>
                <a:latin typeface="Arial"/>
                <a:ea typeface="Arial"/>
                <a:cs typeface="Arial"/>
              </a:rPr>
              <a:t>Архитектура система</a:t>
            </a:r>
            <a:endParaRPr lang="sr-Cyrl-RS" sz="2600">
              <a:solidFill>
                <a:srgbClr val="5C5C5F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6548841"/>
              </p:ext>
            </p:extLst>
          </p:nvPr>
        </p:nvGraphicFramePr>
        <p:xfrm>
          <a:off x="891540" y="1470199"/>
          <a:ext cx="7360920" cy="29184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300" b="1">
                          <a:solidFill>
                            <a:srgbClr val="5C5C5F"/>
                          </a:solidFill>
                          <a:latin typeface="Arial"/>
                          <a:ea typeface="Arial"/>
                          <a:cs typeface="Arial"/>
                        </a:rPr>
                        <a:t>Тип меморије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6F1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300" b="1">
                          <a:solidFill>
                            <a:srgbClr val="5C5C5F"/>
                          </a:solidFill>
                          <a:latin typeface="Arial"/>
                          <a:ea typeface="Arial"/>
                          <a:cs typeface="Arial"/>
                        </a:rPr>
                        <a:t>Како се чува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6F1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300" b="1">
                          <a:solidFill>
                            <a:srgbClr val="5C5C5F"/>
                          </a:solidFill>
                          <a:latin typeface="Arial"/>
                          <a:ea typeface="Arial"/>
                          <a:cs typeface="Arial"/>
                        </a:rPr>
                        <a:t>Особине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6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8952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5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Семантичка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Један JSON профил по кориснику (буџет, клима, школе, болнице, нетрпељивости).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Fetch-merge-write: нова вредност замењује стару; профил се убацује у системски промпт.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8952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5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Епизодичка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Растућа колекција записа: упит, резиме, понуђени градови.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Сада двосмерна: asearch_episodes() враћа до 3 релевантне епизоде </a:t>
                      </a:r>
                      <a:r>
                        <a:rPr lang="sr-Cyrl-RS" sz="140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–</a:t>
                      </a:r>
                      <a:r>
                        <a:rPr lang="sr-Cyrl-RS" sz="12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 по сличности, кључним речима или хибридно.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8952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5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Процедурална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Верзије системског промпта у табели procedural_prompts.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Правило понашања: увек навести близину болница на пример.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B94BE683-A30D-0646-081A-C4C205CB4B40}"/>
              </a:ext>
            </a:extLst>
          </p:cNvPr>
          <p:cNvSpPr txBox="1">
            <a:spLocks/>
          </p:cNvSpPr>
          <p:nvPr/>
        </p:nvSpPr>
        <p:spPr>
          <a:xfrm>
            <a:off x="777240" y="635875"/>
            <a:ext cx="7354824" cy="664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sr-Cyrl-RS" sz="2600" b="1">
                <a:solidFill>
                  <a:srgbClr val="5C5C5F"/>
                </a:solidFill>
                <a:latin typeface="Arial"/>
                <a:ea typeface="Arial"/>
                <a:cs typeface="Arial"/>
              </a:rPr>
              <a:t>Меморија у имплементацији</a:t>
            </a:r>
            <a:endParaRPr lang="sr-Cyrl-RS" sz="2600">
              <a:solidFill>
                <a:srgbClr val="5C5C5F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77240" y="1188720"/>
            <a:ext cx="7589520" cy="104541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210000" indent="-210000">
              <a:spcBef>
                <a:spcPts val="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Домен примене: претрага и препорука градова погодних за пресељење, на основу корисничких преференци.</a:t>
            </a:r>
          </a:p>
          <a:p>
            <a:pPr marL="210000" indent="-210000">
              <a:spcBef>
                <a:spcPts val="100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Интерфејс је изграђен помоћу библиотеке Gradio; корисник бира варијанту агента (baseline / memory) пре почетка сесије.</a:t>
            </a:r>
          </a:p>
        </p:txBody>
      </p:sp>
      <p:pic>
        <p:nvPicPr>
          <p:cNvPr id="4" name="Picture 3" descr="fig_8_1_ui_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0146" y="2234134"/>
            <a:ext cx="4443707" cy="2474976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AC89394-7D4B-1CE3-EE5E-3033A56C1269}"/>
              </a:ext>
            </a:extLst>
          </p:cNvPr>
          <p:cNvSpPr txBox="1">
            <a:spLocks/>
          </p:cNvSpPr>
          <p:nvPr/>
        </p:nvSpPr>
        <p:spPr>
          <a:xfrm>
            <a:off x="777240" y="635875"/>
            <a:ext cx="7354824" cy="664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sr-Cyrl-RS" sz="2600" b="1">
                <a:solidFill>
                  <a:srgbClr val="5C5C5F"/>
                </a:solidFill>
                <a:latin typeface="Arial"/>
                <a:ea typeface="Arial"/>
                <a:cs typeface="Arial"/>
              </a:rPr>
              <a:t>Апликација за претрагу градова</a:t>
            </a:r>
            <a:endParaRPr lang="sr-Cyrl-RS" sz="2600">
              <a:solidFill>
                <a:srgbClr val="5C5C5F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01304" y="1371600"/>
            <a:ext cx="758952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sr-Cyrl-RS" sz="1350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Исти упит у новој сесији: „Find me some good places to live.”</a:t>
            </a:r>
          </a:p>
        </p:txBody>
      </p:sp>
      <p:pic>
        <p:nvPicPr>
          <p:cNvPr id="4" name="Picture 3" descr="fig_8_7_chat_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04" y="2149973"/>
            <a:ext cx="3657600" cy="1424198"/>
          </a:xfrm>
          <a:prstGeom prst="rect">
            <a:avLst/>
          </a:prstGeom>
        </p:spPr>
      </p:pic>
      <p:pic>
        <p:nvPicPr>
          <p:cNvPr id="5" name="Picture 4" descr="fig_8_8_chat_mem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1863" y="1600200"/>
            <a:ext cx="3060833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4434840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r-Cyrl-RS" sz="1050">
                <a:solidFill>
                  <a:srgbClr val="8C8C8C"/>
                </a:solidFill>
                <a:latin typeface="Calibri"/>
                <a:ea typeface="Calibri"/>
                <a:cs typeface="Calibri"/>
              </a:rPr>
              <a:t>Baseline (без меморије): тражи да корисник поново наведе детаље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83479" y="4434840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r-Cyrl-RS" sz="1050">
                <a:solidFill>
                  <a:srgbClr val="8C8C8C"/>
                </a:solidFill>
                <a:latin typeface="Calibri"/>
                <a:ea typeface="Calibri"/>
                <a:cs typeface="Calibri"/>
              </a:rPr>
              <a:t>Са меморијом (background): користи преференце из претходне сесије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17C9921-533B-46B3-4CB4-B7D3B3557249}"/>
              </a:ext>
            </a:extLst>
          </p:cNvPr>
          <p:cNvSpPr txBox="1">
            <a:spLocks/>
          </p:cNvSpPr>
          <p:nvPr/>
        </p:nvSpPr>
        <p:spPr>
          <a:xfrm>
            <a:off x="777240" y="635875"/>
            <a:ext cx="7354824" cy="664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sr-Cyrl-RS" sz="2600" b="1">
                <a:solidFill>
                  <a:srgbClr val="5C5C5F"/>
                </a:solidFill>
                <a:latin typeface="Arial"/>
                <a:ea typeface="Arial"/>
                <a:cs typeface="Arial"/>
              </a:rPr>
              <a:t>Меморија у пракси</a:t>
            </a:r>
            <a:endParaRPr lang="sr-Cyrl-RS" sz="2600">
              <a:solidFill>
                <a:srgbClr val="5C5C5F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9838695"/>
              </p:ext>
            </p:extLst>
          </p:nvPr>
        </p:nvGraphicFramePr>
        <p:xfrm>
          <a:off x="859537" y="1300240"/>
          <a:ext cx="7507223" cy="312495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533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04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33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6406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00" b="1">
                          <a:solidFill>
                            <a:srgbClr val="5C5C5F"/>
                          </a:solidFill>
                          <a:latin typeface="Arial"/>
                          <a:ea typeface="Arial"/>
                          <a:cs typeface="Arial"/>
                        </a:rPr>
                        <a:t>Сценарио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6F1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00" b="1">
                          <a:solidFill>
                            <a:srgbClr val="5C5C5F"/>
                          </a:solidFill>
                          <a:latin typeface="Arial"/>
                          <a:ea typeface="Arial"/>
                          <a:cs typeface="Arial"/>
                        </a:rPr>
                        <a:t>Опис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6F1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00" b="1">
                          <a:solidFill>
                            <a:srgbClr val="5C5C5F"/>
                          </a:solidFill>
                          <a:latin typeface="Arial"/>
                          <a:ea typeface="Arial"/>
                          <a:cs typeface="Arial"/>
                        </a:rPr>
                        <a:t>Шта се тестира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6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9117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00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Буџет и клима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00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Корисник наведе буџет и климатске услове, а затим, без понављања детаља, тражи препоруку градова.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00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Преношење експлицитне преференце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9117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00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Држава и школа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00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Слично, али са преференцијама везаним за државу и близину школа.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00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Генерализација на други тип преференце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296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00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Нетрпељивост (3 сесије)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00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Корисник у једној сесији наведе шта не жели, а то се проверава у две потпуно нове сесије.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00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Истрајност меморије кроз више сесија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296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00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Дистрактор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00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Разговор укључује ирелевантне („шум“) поруке пре циљаног упита.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00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Отпорност на лажно памћење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9117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00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Опозив епизоде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00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Корисник у првој сесији наведе разлог претраге (ћерка почиње студије у Финиксу), а у новој сесији пита шта је навео као разлог.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00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Прибављање епизодичке меморије 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5939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00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Разликовање две епизоде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00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Корисник тражи градове у Аризони због ћеркиних студија, затим у Орегону због другог разлога, па пита због чега је тражио Орегон.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00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Прибављање праве од две епизоде, без мешања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AE789866-3BDE-9BB2-9B3A-83A802053ABE}"/>
              </a:ext>
            </a:extLst>
          </p:cNvPr>
          <p:cNvSpPr txBox="1">
            <a:spLocks/>
          </p:cNvSpPr>
          <p:nvPr/>
        </p:nvSpPr>
        <p:spPr>
          <a:xfrm>
            <a:off x="777240" y="635875"/>
            <a:ext cx="7354824" cy="664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sr-Cyrl-RS" sz="2600" b="1">
                <a:solidFill>
                  <a:srgbClr val="5C5C5F"/>
                </a:solidFill>
                <a:latin typeface="Arial"/>
                <a:ea typeface="Arial"/>
                <a:cs typeface="Arial"/>
              </a:rPr>
              <a:t>Методологија евалуације</a:t>
            </a:r>
            <a:endParaRPr lang="sr-Cyrl-RS" sz="2600">
              <a:solidFill>
                <a:srgbClr val="5C5C5F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E789866-3BDE-9BB2-9B3A-83A802053ABE}"/>
              </a:ext>
            </a:extLst>
          </p:cNvPr>
          <p:cNvSpPr txBox="1">
            <a:spLocks/>
          </p:cNvSpPr>
          <p:nvPr/>
        </p:nvSpPr>
        <p:spPr>
          <a:xfrm>
            <a:off x="777240" y="635875"/>
            <a:ext cx="7354824" cy="664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sr-Cyrl-RS" sz="2600" b="1">
                <a:solidFill>
                  <a:srgbClr val="5C5C5F"/>
                </a:solidFill>
                <a:latin typeface="Arial"/>
                <a:ea typeface="Arial"/>
                <a:cs typeface="Arial"/>
              </a:rPr>
              <a:t>Методологија евалуације</a:t>
            </a:r>
            <a:endParaRPr lang="sr-Cyrl-RS" sz="2600">
              <a:solidFill>
                <a:srgbClr val="5C5C5F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9CFAA7-58B2-69A3-6157-F15FB32F072A}"/>
              </a:ext>
            </a:extLst>
          </p:cNvPr>
          <p:cNvSpPr txBox="1"/>
          <p:nvPr/>
        </p:nvSpPr>
        <p:spPr>
          <a:xfrm>
            <a:off x="777240" y="1300240"/>
            <a:ext cx="7589520" cy="29869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210000" indent="-210000">
              <a:spcBef>
                <a:spcPts val="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Комбинација – семантичка и епизодичка заједно (оса механизма екстракције):</a:t>
            </a:r>
          </a:p>
          <a:p>
            <a:pPr marL="548640" lvl="8" indent="-285750">
              <a:buClr>
                <a:srgbClr val="927C71"/>
              </a:buClr>
              <a:buFont typeface="Courier New" panose="02070309020205020404" pitchFamily="49" charset="0"/>
              <a:buChar char="o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baseline, hot-path, background, both</a:t>
            </a:r>
          </a:p>
          <a:p>
            <a:pPr marL="210000" indent="-210000">
              <a:spcBef>
                <a:spcPts val="90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Појединачни типови (оса типа меморије, уз baseline):</a:t>
            </a:r>
          </a:p>
          <a:p>
            <a:pPr marL="548640" lvl="8" indent="-285750">
              <a:buClr>
                <a:srgbClr val="927C71"/>
              </a:buClr>
              <a:buFont typeface="Courier New" panose="02070309020205020404" pitchFamily="49" charset="0"/>
              <a:buChar char="o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само семантичка: hot-path, background, both</a:t>
            </a:r>
          </a:p>
          <a:p>
            <a:pPr marL="548640" lvl="8" indent="-285750">
              <a:buClr>
                <a:srgbClr val="927C71"/>
              </a:buClr>
              <a:buFont typeface="Courier New" panose="02070309020205020404" pitchFamily="49" charset="0"/>
              <a:buChar char="o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само епизодичка: hot-path, background, both</a:t>
            </a:r>
          </a:p>
          <a:p>
            <a:pPr marL="210000" indent="-210000">
              <a:spcBef>
                <a:spcPts val="90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5 понављања по комбинацији </a:t>
            </a:r>
          </a:p>
          <a:p>
            <a:pPr marL="210000" indent="-210000">
              <a:spcBef>
                <a:spcPts val="90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Метрике:</a:t>
            </a:r>
          </a:p>
          <a:p>
            <a:pPr marL="548640" lvl="8" indent="-285750">
              <a:buClr>
                <a:srgbClr val="927C71"/>
              </a:buClr>
              <a:buFont typeface="Courier New" panose="02070309020205020404" pitchFamily="49" charset="0"/>
              <a:buChar char="o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строга тачност прибављене меморије</a:t>
            </a:r>
          </a:p>
          <a:p>
            <a:pPr marL="548640" lvl="8" indent="-285750">
              <a:buClr>
                <a:srgbClr val="927C71"/>
              </a:buClr>
              <a:buFont typeface="Courier New" panose="02070309020205020404" pitchFamily="49" charset="0"/>
              <a:buChar char="o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конзистентност кроз сесије</a:t>
            </a:r>
          </a:p>
          <a:p>
            <a:pPr marL="548640" lvl="8" indent="-285750">
              <a:buClr>
                <a:srgbClr val="927C71"/>
              </a:buClr>
              <a:buFont typeface="Courier New" panose="02070309020205020404" pitchFamily="49" charset="0"/>
              <a:buChar char="o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лажно памћење</a:t>
            </a:r>
          </a:p>
          <a:p>
            <a:pPr marL="548640" lvl="8" indent="-285750">
              <a:buClr>
                <a:srgbClr val="927C71"/>
              </a:buClr>
              <a:buFont typeface="Courier New" panose="02070309020205020404" pitchFamily="49" charset="0"/>
              <a:buChar char="o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тачност прибављања епизоде</a:t>
            </a:r>
          </a:p>
          <a:p>
            <a:pPr marL="548640" lvl="8" indent="-285750">
              <a:buClr>
                <a:srgbClr val="927C71"/>
              </a:buClr>
              <a:buFont typeface="Courier New" panose="02070309020205020404" pitchFamily="49" charset="0"/>
              <a:buChar char="o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латенција и кашњење у односу на baseline</a:t>
            </a:r>
          </a:p>
        </p:txBody>
      </p:sp>
    </p:spTree>
    <p:extLst>
      <p:ext uri="{BB962C8B-B14F-4D97-AF65-F5344CB8AC3E}">
        <p14:creationId xmlns:p14="http://schemas.microsoft.com/office/powerpoint/2010/main" val="2653150134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fig_9_1_initial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8081" y="1300240"/>
            <a:ext cx="6487838" cy="3040112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487C561-6F75-3FE9-D24D-3BE7AA495FF6}"/>
              </a:ext>
            </a:extLst>
          </p:cNvPr>
          <p:cNvSpPr txBox="1">
            <a:spLocks/>
          </p:cNvSpPr>
          <p:nvPr/>
        </p:nvSpPr>
        <p:spPr>
          <a:xfrm>
            <a:off x="777240" y="635875"/>
            <a:ext cx="7354824" cy="664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sr-Cyrl-RS" sz="2600" b="1">
                <a:solidFill>
                  <a:srgbClr val="5C5C5F"/>
                </a:solidFill>
                <a:latin typeface="Arial"/>
                <a:ea typeface="Arial"/>
                <a:cs typeface="Arial"/>
              </a:rPr>
              <a:t>Почетни резултати</a:t>
            </a:r>
            <a:r>
              <a:rPr lang="en-US" sz="2600" b="1">
                <a:solidFill>
                  <a:srgbClr val="5C5C5F"/>
                </a:solidFill>
                <a:latin typeface="Arial"/>
                <a:ea typeface="Arial"/>
                <a:cs typeface="Arial"/>
              </a:rPr>
              <a:t>: </a:t>
            </a:r>
            <a:r>
              <a:rPr lang="sr-Cyrl-RS" sz="2600" b="1">
                <a:solidFill>
                  <a:srgbClr val="5C5C5F"/>
                </a:solidFill>
                <a:latin typeface="Arial"/>
                <a:ea typeface="Arial"/>
                <a:cs typeface="Arial"/>
              </a:rPr>
              <a:t>тачност меморије</a:t>
            </a:r>
            <a:endParaRPr lang="sr-Cyrl-RS" sz="2600">
              <a:solidFill>
                <a:srgbClr val="5C5C5F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fig_9_2_final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3921" y="1300240"/>
            <a:ext cx="5416157" cy="25804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4773168"/>
            <a:ext cx="73152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r-Cyrl-RS" sz="950">
                <a:solidFill>
                  <a:srgbClr val="8C8C8C"/>
                </a:solidFill>
                <a:latin typeface="Calibri"/>
                <a:ea typeface="Calibri"/>
                <a:cs typeface="Calibri"/>
              </a:rPr>
              <a:t>Слика 9.2. Строга тачност по сценарију и механизму екстракције — завршни резултати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64AE43D-B876-1620-D3F9-F1B25312AC7A}"/>
              </a:ext>
            </a:extLst>
          </p:cNvPr>
          <p:cNvSpPr txBox="1">
            <a:spLocks/>
          </p:cNvSpPr>
          <p:nvPr/>
        </p:nvSpPr>
        <p:spPr>
          <a:xfrm>
            <a:off x="777240" y="635875"/>
            <a:ext cx="7354824" cy="664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sr-Cyrl-RS" sz="2600">
                <a:solidFill>
                  <a:srgbClr val="5C5C5F"/>
                </a:solidFill>
                <a:latin typeface="Arial"/>
                <a:ea typeface="Arial"/>
                <a:cs typeface="Arial"/>
              </a:rPr>
              <a:t>Финални</a:t>
            </a:r>
            <a:r>
              <a:rPr lang="sr-Cyrl-RS" sz="2600" b="1">
                <a:solidFill>
                  <a:srgbClr val="5C5C5F"/>
                </a:solidFill>
                <a:latin typeface="Arial"/>
                <a:ea typeface="Arial"/>
                <a:cs typeface="Arial"/>
              </a:rPr>
              <a:t> резултати</a:t>
            </a:r>
            <a:r>
              <a:rPr lang="en-US" sz="2600" b="1">
                <a:solidFill>
                  <a:srgbClr val="5C5C5F"/>
                </a:solidFill>
                <a:latin typeface="Arial"/>
                <a:ea typeface="Arial"/>
                <a:cs typeface="Arial"/>
              </a:rPr>
              <a:t>: </a:t>
            </a:r>
            <a:r>
              <a:rPr lang="sr-Cyrl-RS" sz="2600" b="1">
                <a:solidFill>
                  <a:srgbClr val="5C5C5F"/>
                </a:solidFill>
                <a:latin typeface="Arial"/>
                <a:ea typeface="Arial"/>
                <a:cs typeface="Arial"/>
              </a:rPr>
              <a:t>тачност меморије</a:t>
            </a:r>
            <a:endParaRPr lang="sr-Cyrl-RS" sz="2600">
              <a:solidFill>
                <a:srgbClr val="5C5C5F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77824" y="3892197"/>
            <a:ext cx="7488935" cy="777240"/>
          </a:xfrm>
          <a:prstGeom prst="rect">
            <a:avLst/>
          </a:prstGeom>
          <a:solidFill>
            <a:srgbClr val="F6F1ED"/>
          </a:solidFill>
          <a:ln>
            <a:noFill/>
          </a:ln>
        </p:spPr>
        <p:txBody>
          <a:bodyPr wrap="square" lIns="128016" rIns="128016" rtlCol="0" anchor="ctr"/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r-Cyrl-RS" sz="1150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Кашњење: hot-path и both до 7,0 с, background до 7,7 с </a:t>
            </a:r>
            <a:r>
              <a:rPr lang="en-US" sz="1150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sr-Cyrl-RS" sz="1150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 али само у сценаријима са претрагом градова; код опозива и разликовања епизода кашњење је занемарливо (испод 1 с).</a:t>
            </a:r>
          </a:p>
        </p:txBody>
      </p:sp>
    </p:spTree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277391"/>
              </p:ext>
            </p:extLst>
          </p:nvPr>
        </p:nvGraphicFramePr>
        <p:xfrm>
          <a:off x="890017" y="1300240"/>
          <a:ext cx="7354824" cy="33238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747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98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75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75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75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75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4852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050" b="1">
                          <a:solidFill>
                            <a:srgbClr val="5C5C5F"/>
                          </a:solidFill>
                          <a:latin typeface="Arial"/>
                          <a:ea typeface="Arial"/>
                          <a:cs typeface="Arial"/>
                        </a:rPr>
                        <a:t>Сценарио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6F1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050" b="1">
                          <a:solidFill>
                            <a:srgbClr val="5C5C5F"/>
                          </a:solidFill>
                          <a:latin typeface="Arial"/>
                          <a:ea typeface="Arial"/>
                          <a:cs typeface="Arial"/>
                        </a:rPr>
                        <a:t>Тип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6F1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050" b="1">
                          <a:solidFill>
                            <a:srgbClr val="5C5C5F"/>
                          </a:solidFill>
                          <a:latin typeface="Arial"/>
                          <a:ea typeface="Arial"/>
                          <a:cs typeface="Arial"/>
                        </a:rPr>
                        <a:t>Baseline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6F1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050" b="1">
                          <a:solidFill>
                            <a:srgbClr val="5C5C5F"/>
                          </a:solidFill>
                          <a:latin typeface="Arial"/>
                          <a:ea typeface="Arial"/>
                          <a:cs typeface="Arial"/>
                        </a:rPr>
                        <a:t>hot-path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6F1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050" b="1">
                          <a:solidFill>
                            <a:srgbClr val="5C5C5F"/>
                          </a:solidFill>
                          <a:latin typeface="Arial"/>
                          <a:ea typeface="Arial"/>
                          <a:cs typeface="Arial"/>
                        </a:rPr>
                        <a:t>background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6F1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050" b="1">
                          <a:solidFill>
                            <a:srgbClr val="5C5C5F"/>
                          </a:solidFill>
                          <a:latin typeface="Arial"/>
                          <a:ea typeface="Arial"/>
                          <a:cs typeface="Arial"/>
                        </a:rPr>
                        <a:t>both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6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14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Буџет и клима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семантичка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1,00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1,00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1,00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14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Буџет и клима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епизодичка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14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Држава и школа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семантичка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0,80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0,90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0,60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14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Држава и школа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епизодичка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14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Нетрпељивост (3 сес.)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семантичка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1,00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0,80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1,00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214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Нетрпељивост (3 сес.)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епизодичка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14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Опозив епизоде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семантичка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1,00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1,00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14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Опозив епизоде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епизодичка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1,00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1,00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1,00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14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Разликовање две еп.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семантичка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0,20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0,80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214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Разликовање две еп.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епизодичка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1,00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1,00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1,00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214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Дистрактор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семантичка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1,00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1,00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1,00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214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Дистрактор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епизодичка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3799001C-4792-13E1-F40D-9E3719441D4F}"/>
              </a:ext>
            </a:extLst>
          </p:cNvPr>
          <p:cNvSpPr txBox="1">
            <a:spLocks/>
          </p:cNvSpPr>
          <p:nvPr/>
        </p:nvSpPr>
        <p:spPr>
          <a:xfrm>
            <a:off x="777240" y="635875"/>
            <a:ext cx="7354824" cy="664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sr-Cyrl-RS" sz="2600" b="1">
                <a:solidFill>
                  <a:srgbClr val="5C5C5F"/>
                </a:solidFill>
                <a:latin typeface="Arial"/>
                <a:ea typeface="Arial"/>
                <a:cs typeface="Arial"/>
              </a:rPr>
              <a:t>Резултати: тачност по типу меморије</a:t>
            </a:r>
            <a:endParaRPr lang="sr-Cyrl-RS" sz="2600">
              <a:solidFill>
                <a:srgbClr val="5C5C5F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054001"/>
              </p:ext>
            </p:extLst>
          </p:nvPr>
        </p:nvGraphicFramePr>
        <p:xfrm>
          <a:off x="822960" y="1300240"/>
          <a:ext cx="7589520" cy="25786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50" b="1">
                          <a:solidFill>
                            <a:srgbClr val="5C5C5F"/>
                          </a:solidFill>
                          <a:latin typeface="Arial"/>
                          <a:ea typeface="Arial"/>
                          <a:cs typeface="Arial"/>
                        </a:rPr>
                        <a:t>Сценарио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6F1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50" b="1">
                          <a:solidFill>
                            <a:srgbClr val="5C5C5F"/>
                          </a:solidFill>
                          <a:latin typeface="Arial"/>
                          <a:ea typeface="Arial"/>
                          <a:cs typeface="Arial"/>
                        </a:rPr>
                        <a:t>hot-path: пре → после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6F1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50" b="1">
                          <a:solidFill>
                            <a:srgbClr val="5C5C5F"/>
                          </a:solidFill>
                          <a:latin typeface="Arial"/>
                          <a:ea typeface="Arial"/>
                          <a:cs typeface="Arial"/>
                        </a:rPr>
                        <a:t>both: пре → после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6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0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Буџет и клима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0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 → 0,80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0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 → 1,00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0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Држава и школа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0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0,40 → 0,60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0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 → 0,80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0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Нетрпељивост (3 сес.)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0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0,40 → 1,00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0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 → 1,00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0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Опозив епизоде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0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1,00 → 0,80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0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1,00 → 1,00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0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Разликовање две еп.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0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1,00 → 0,80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0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1,00 → 1,00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0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Дистрактор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0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0,00 → 1,00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20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1,00 → 1,00</a:t>
                      </a:r>
                    </a:p>
                  </a:txBody>
                  <a:tcPr marL="91425" marR="91425" marT="54864" marB="54864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822960" y="4066032"/>
            <a:ext cx="7589520" cy="594360"/>
          </a:xfrm>
          <a:prstGeom prst="rect">
            <a:avLst/>
          </a:prstGeom>
          <a:solidFill>
            <a:srgbClr val="F6F1ED"/>
          </a:solidFill>
          <a:ln>
            <a:noFill/>
          </a:ln>
        </p:spPr>
        <p:txBody>
          <a:bodyPr wrap="square" lIns="128016" rIns="128016" rtlCol="0" anchor="ctr"/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r-Cyrl-RS" sz="1200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Background остаје стабилно висок (0,80–1,00) у обе верзије </a:t>
            </a:r>
            <a:r>
              <a:rPr lang="en-US" sz="1200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sr-Cyrl-RS" sz="1200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 формулација промпта највише утиче на hot-path и both.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AD6590F-B078-AF99-7778-B3361ECC397A}"/>
              </a:ext>
            </a:extLst>
          </p:cNvPr>
          <p:cNvSpPr txBox="1">
            <a:spLocks/>
          </p:cNvSpPr>
          <p:nvPr/>
        </p:nvSpPr>
        <p:spPr>
          <a:xfrm>
            <a:off x="777240" y="635875"/>
            <a:ext cx="7354824" cy="664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sr-Cyrl-RS" sz="2600" b="1">
                <a:solidFill>
                  <a:srgbClr val="5C5C5F"/>
                </a:solidFill>
                <a:latin typeface="Arial"/>
                <a:ea typeface="Arial"/>
                <a:cs typeface="Arial"/>
              </a:rPr>
              <a:t>Утицај формулације prompt-а</a:t>
            </a:r>
            <a:endParaRPr lang="sr-Cyrl-RS" sz="2600">
              <a:solidFill>
                <a:srgbClr val="5C5C5F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AD6590F-B078-AF99-7778-B3361ECC397A}"/>
              </a:ext>
            </a:extLst>
          </p:cNvPr>
          <p:cNvSpPr txBox="1">
            <a:spLocks/>
          </p:cNvSpPr>
          <p:nvPr/>
        </p:nvSpPr>
        <p:spPr>
          <a:xfrm>
            <a:off x="777240" y="635875"/>
            <a:ext cx="7354824" cy="664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sr-Cyrl-RS" sz="2600" b="1">
                <a:solidFill>
                  <a:srgbClr val="5C5C5F"/>
                </a:solidFill>
                <a:latin typeface="Arial"/>
                <a:ea typeface="Arial"/>
                <a:cs typeface="Arial"/>
              </a:rPr>
              <a:t>Посебне провере</a:t>
            </a:r>
            <a:endParaRPr lang="sr-Cyrl-RS" sz="2600">
              <a:solidFill>
                <a:srgbClr val="5C5C5F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B150361-2232-370A-8C9F-EAE29F6299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2092308"/>
              </p:ext>
            </p:extLst>
          </p:nvPr>
        </p:nvGraphicFramePr>
        <p:xfrm>
          <a:off x="894588" y="1787920"/>
          <a:ext cx="7354824" cy="1821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69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2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39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050" b="1">
                          <a:solidFill>
                            <a:srgbClr val="5C5C5F"/>
                          </a:solidFill>
                          <a:latin typeface="Arial"/>
                          <a:ea typeface="Arial"/>
                          <a:cs typeface="Arial"/>
                        </a:rPr>
                        <a:t>Провера</a:t>
                      </a:r>
                    </a:p>
                  </a:txBody>
                  <a:tcPr marL="91425" marR="91425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6F1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050" b="1">
                          <a:solidFill>
                            <a:srgbClr val="5C5C5F"/>
                          </a:solidFill>
                          <a:latin typeface="Arial"/>
                          <a:ea typeface="Arial"/>
                          <a:cs typeface="Arial"/>
                        </a:rPr>
                        <a:t>Како је тестирано</a:t>
                      </a:r>
                    </a:p>
                  </a:txBody>
                  <a:tcPr marL="91425" marR="91425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6F1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1050" b="1">
                          <a:solidFill>
                            <a:srgbClr val="5C5C5F"/>
                          </a:solidFill>
                          <a:latin typeface="Arial"/>
                          <a:ea typeface="Arial"/>
                          <a:cs typeface="Arial"/>
                        </a:rPr>
                        <a:t>Резултат</a:t>
                      </a:r>
                    </a:p>
                  </a:txBody>
                  <a:tcPr marL="91425" marR="91425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6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Ажурирање меморије</a:t>
                      </a:r>
                    </a:p>
                  </a:txBody>
                  <a:tcPr marL="91425" marR="91425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Корисник наведе вредност, па је промени (буџет 200.000 → 300.000 $, држава Тексас → Вермонт), у истој и у новој сесији; 5 понављања.</a:t>
                      </a:r>
                    </a:p>
                  </a:txBody>
                  <a:tcPr marL="91425" marR="91425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1,00 у свим случајевима – препорука само по новој вредности</a:t>
                      </a:r>
                    </a:p>
                  </a:txBody>
                  <a:tcPr marL="91425" marR="91425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Процедурално правило</a:t>
                      </a:r>
                    </a:p>
                  </a:txBody>
                  <a:tcPr marL="91425" marR="91425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Корисник тражи да му се увек наведе удаљеност болнице → LangMem оптимизује системски prompt → нова сесија, само процедурална меморија: „Find me warm affordable towns in Florida.“</a:t>
                      </a:r>
                    </a:p>
                  </a:txBody>
                  <a:tcPr marL="91425" marR="91425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1,00 (један упит) – болнице наведене за сваки град</a:t>
                      </a:r>
                    </a:p>
                  </a:txBody>
                  <a:tcPr marL="91425" marR="91425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1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Стратегије претраге епизода</a:t>
                      </a:r>
                    </a:p>
                  </a:txBody>
                  <a:tcPr marL="91425" marR="91425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similarity, keyword и hybrid у сценарију опозива епизоде, у сва три режима; 5 понављања.</a:t>
                      </a:r>
                    </a:p>
                  </a:txBody>
                  <a:tcPr marL="91425" marR="91425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r-Cyrl-RS" sz="950" b="0">
                          <a:solidFill>
                            <a:srgbClr val="5C5C5F"/>
                          </a:solidFill>
                          <a:latin typeface="Calibri"/>
                          <a:ea typeface="Calibri"/>
                          <a:cs typeface="Calibri"/>
                        </a:rPr>
                        <a:t>Све три 1,00 – са једном епизодом не показује која је боља</a:t>
                      </a:r>
                    </a:p>
                  </a:txBody>
                  <a:tcPr marL="91425" marR="91425" anchor="ctr">
                    <a:lnL w="9525" cap="flat" cmpd="sng" algn="ctr">
                      <a:solidFill>
                        <a:srgbClr val="5C5C5F"/>
                      </a:solidFill>
                      <a:prstDash val="solid"/>
                    </a:lnL>
                    <a:lnR w="9525" cap="flat" cmpd="sng" algn="ctr">
                      <a:solidFill>
                        <a:srgbClr val="5C5C5F"/>
                      </a:solidFill>
                      <a:prstDash val="solid"/>
                    </a:lnR>
                    <a:lnT w="9525" cap="flat" cmpd="sng" algn="ctr">
                      <a:solidFill>
                        <a:srgbClr val="5C5C5F"/>
                      </a:solidFill>
                      <a:prstDash val="solid"/>
                    </a:lnT>
                    <a:lnB w="9525" cap="flat" cmpd="sng" algn="ctr">
                      <a:solidFill>
                        <a:srgbClr val="5C5C5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1603136"/>
      </p:ext>
    </p:extLst>
  </p:cSld>
  <p:clrMapOvr>
    <a:masterClrMapping/>
  </p:clrMapOvr>
  <p:transition spd="slow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77240" y="1540689"/>
            <a:ext cx="7589520" cy="237911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210000" indent="-210000">
              <a:spcBef>
                <a:spcPts val="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Сва три режима са меморијом постижу строгу тачност 0,60–1,00, наспрам 0,00 код агента без ње; background је најдоследнији (1,00 у свих шест сценарија).</a:t>
            </a:r>
          </a:p>
          <a:p>
            <a:pPr marL="210000" indent="-210000">
              <a:spcBef>
                <a:spcPts val="100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Епизодичка меморија сада заиста доприноси: тачност 1,00 за опозив и разликовање епизода, у сва три режима.</a:t>
            </a:r>
          </a:p>
          <a:p>
            <a:pPr marL="210000" indent="-210000">
              <a:spcBef>
                <a:spcPts val="100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Формулација системског промпта утиче на коришћење меморије више него тренутак уписа (hot-path наспрам background); разлика се смањује прецизнијим упутством, али не нестаје.</a:t>
            </a:r>
          </a:p>
          <a:p>
            <a:pPr marL="210000" indent="-210000">
              <a:spcBef>
                <a:spcPts val="1000"/>
              </a:spcBef>
              <a:spcAft>
                <a:spcPts val="0"/>
              </a:spcAft>
              <a:buClr>
                <a:srgbClr val="927C71"/>
              </a:buClr>
              <a:buFont typeface="Arial"/>
              <a:buChar char="•"/>
            </a:pPr>
            <a:r>
              <a:rPr lang="sr-Cyrl-RS" b="1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Будући рад</a:t>
            </a:r>
            <a:r>
              <a:rPr lang="en-U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: </a:t>
            </a:r>
            <a:r>
              <a:rPr lang="ru-RU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сценариј</a:t>
            </a:r>
            <a:r>
              <a:rPr lang="sr-Cyrl-RS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и</a:t>
            </a:r>
            <a:r>
              <a:rPr lang="ru-RU">
                <a:solidFill>
                  <a:srgbClr val="5C5C5F"/>
                </a:solidFill>
                <a:latin typeface="Calibri"/>
                <a:ea typeface="Calibri"/>
                <a:cs typeface="Calibri"/>
              </a:rPr>
              <a:t> са више епизода по кориснику ради поређења стратегија претраге, ширу проверу процедуралног правила, као и више понављања ради поузданијег поређења режима екстракције.</a:t>
            </a:r>
            <a:endParaRPr lang="sr-Cyrl-RS">
              <a:solidFill>
                <a:srgbClr val="5C5C5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0B860D9-13A3-B506-4F6E-A893C22C1346}"/>
              </a:ext>
            </a:extLst>
          </p:cNvPr>
          <p:cNvSpPr txBox="1">
            <a:spLocks/>
          </p:cNvSpPr>
          <p:nvPr/>
        </p:nvSpPr>
        <p:spPr>
          <a:xfrm>
            <a:off x="777240" y="635875"/>
            <a:ext cx="7354824" cy="55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 i="0" u="none" strike="noStrike" cap="none" spc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sr-Cyrl-RS" sz="2600" b="1">
                <a:solidFill>
                  <a:srgbClr val="5C5C5F"/>
                </a:solidFill>
                <a:latin typeface="Arial"/>
                <a:ea typeface="Arial"/>
                <a:cs typeface="Arial"/>
              </a:rPr>
              <a:t>Закључак</a:t>
            </a:r>
            <a:endParaRPr lang="sr-Cyrl-RS" sz="2600">
              <a:solidFill>
                <a:srgbClr val="5C5C5F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idx="4294967295"/>
          </p:nvPr>
        </p:nvSpPr>
        <p:spPr>
          <a:xfrm>
            <a:off x="2525868" y="2193053"/>
            <a:ext cx="4092263" cy="757394"/>
          </a:xfrm>
        </p:spPr>
        <p:txBody>
          <a:bodyPr/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sr-Cyrl-RS" sz="3600" b="1">
                <a:solidFill>
                  <a:srgbClr val="5C5C5F"/>
                </a:solidFill>
                <a:latin typeface="Arial"/>
                <a:ea typeface="Arial"/>
                <a:cs typeface="Arial"/>
              </a:rPr>
              <a:t>Хвала на пажњи!</a:t>
            </a:r>
          </a:p>
        </p:txBody>
      </p:sp>
    </p:spTree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Elegant Bachelor Thesis by Slidesgo">
  <a:themeElements>
    <a:clrScheme name="Simple Light">
      <a:dk1>
        <a:srgbClr val="5C5C5F"/>
      </a:dk1>
      <a:lt1>
        <a:srgbClr val="D8CEC9"/>
      </a:lt1>
      <a:dk2>
        <a:srgbClr val="927C71"/>
      </a:dk2>
      <a:lt2>
        <a:srgbClr val="FAFAFA"/>
      </a:lt2>
      <a:accent1>
        <a:srgbClr val="C99A7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3333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1961</TotalTime>
  <Words>1535</Words>
  <Application>Microsoft Office PowerPoint</Application>
  <PresentationFormat>On-screen Show (16:9)</PresentationFormat>
  <Paragraphs>279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6" baseType="lpstr">
      <vt:lpstr>Quicksand</vt:lpstr>
      <vt:lpstr>Bebas Neue</vt:lpstr>
      <vt:lpstr>Courier New</vt:lpstr>
      <vt:lpstr>Calibri</vt:lpstr>
      <vt:lpstr>Mulish</vt:lpstr>
      <vt:lpstr>Nunito Light</vt:lpstr>
      <vt:lpstr>PT Sans</vt:lpstr>
      <vt:lpstr>DM Sans</vt:lpstr>
      <vt:lpstr>Tahoma</vt:lpstr>
      <vt:lpstr>Arial</vt:lpstr>
      <vt:lpstr>Elegant Bachelor Thesis by Slidesgo</vt:lpstr>
      <vt:lpstr>Имплементација long-term меморије у агентским системима коришћењем LangMem SDK</vt:lpstr>
      <vt:lpstr>PowerPoint Presentation</vt:lpstr>
      <vt:lpstr>Увод и мотивација</vt:lpstr>
      <vt:lpstr>Агентски системи базирани на ЛЛМ-овима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Хвала на пажњи!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Jovana Malinovic</cp:lastModifiedBy>
  <cp:revision>35</cp:revision>
  <dcterms:modified xsi:type="dcterms:W3CDTF">2026-10-21T00:25:34Z</dcterms:modified>
</cp:coreProperties>
</file>